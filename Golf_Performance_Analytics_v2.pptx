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837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txBody>
          <a:bodyPr/>
          <a:lstStyle/>
          <a:p>
            <a:endParaRPr lang="en-US"/>
          </a:p>
        </p:txBody>
      </p:sp>
      <p:sp>
        <p:nvSpPr>
          <p:cNvPr id="3" name="Shape 1"/>
          <p:cNvSpPr/>
          <p:nvPr/>
        </p:nvSpPr>
        <p:spPr>
          <a:xfrm>
            <a:off x="164592" y="0"/>
            <a:ext cx="8979408" cy="54864"/>
          </a:xfrm>
          <a:prstGeom prst="rect">
            <a:avLst/>
          </a:prstGeom>
          <a:solidFill>
            <a:srgbClr val="E8C87A"/>
          </a:solidFill>
          <a:ln w="12700">
            <a:solidFill>
              <a:srgbClr val="E8C87A"/>
            </a:solidFill>
            <a:prstDash val="solid"/>
          </a:ln>
        </p:spPr>
        <p:txBody>
          <a:bodyPr/>
          <a:lstStyle/>
          <a:p>
            <a:endParaRPr lang="en-US"/>
          </a:p>
        </p:txBody>
      </p:sp>
      <p:sp>
        <p:nvSpPr>
          <p:cNvPr id="4" name="Shape 2"/>
          <p:cNvSpPr/>
          <p:nvPr/>
        </p:nvSpPr>
        <p:spPr>
          <a:xfrm>
            <a:off x="6583680" y="822960"/>
            <a:ext cx="2011680" cy="2011680"/>
          </a:xfrm>
          <a:prstGeom prst="ellipse">
            <a:avLst/>
          </a:prstGeom>
          <a:solidFill>
            <a:srgbClr val="1B2E45"/>
          </a:solidFill>
          <a:ln w="25400">
            <a:solidFill>
              <a:srgbClr val="C9A84C"/>
            </a:solidFill>
            <a:prstDash val="solid"/>
          </a:ln>
        </p:spPr>
        <p:txBody>
          <a:bodyPr/>
          <a:lstStyle/>
          <a:p>
            <a:endParaRPr lang="en-US"/>
          </a:p>
        </p:txBody>
      </p:sp>
      <p:sp>
        <p:nvSpPr>
          <p:cNvPr id="5" name="Text 3"/>
          <p:cNvSpPr/>
          <p:nvPr/>
        </p:nvSpPr>
        <p:spPr>
          <a:xfrm>
            <a:off x="6583680" y="822960"/>
            <a:ext cx="2011680" cy="2011680"/>
          </a:xfrm>
          <a:prstGeom prst="rect">
            <a:avLst/>
          </a:prstGeom>
          <a:noFill/>
          <a:ln/>
        </p:spPr>
        <p:txBody>
          <a:bodyPr wrap="square" rtlCol="0" anchor="ctr"/>
          <a:lstStyle/>
          <a:p>
            <a:pPr marL="0" indent="0" algn="ctr">
              <a:buNone/>
            </a:pPr>
            <a:r>
              <a:rPr lang="en-US" sz="5200" dirty="0">
                <a:solidFill>
                  <a:srgbClr val="000000"/>
                </a:solidFill>
              </a:rPr>
              <a:t>⛳</a:t>
            </a:r>
            <a:endParaRPr lang="en-US" sz="5200" dirty="0"/>
          </a:p>
        </p:txBody>
      </p:sp>
      <p:sp>
        <p:nvSpPr>
          <p:cNvPr id="6" name="Text 4"/>
          <p:cNvSpPr/>
          <p:nvPr/>
        </p:nvSpPr>
        <p:spPr>
          <a:xfrm>
            <a:off x="457200" y="1005840"/>
            <a:ext cx="5943600" cy="91440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Golf Performance Analytics</a:t>
            </a:r>
            <a:endParaRPr lang="en-US" sz="3800" dirty="0"/>
          </a:p>
        </p:txBody>
      </p:sp>
      <p:sp>
        <p:nvSpPr>
          <p:cNvPr id="7" name="Text 5"/>
          <p:cNvSpPr/>
          <p:nvPr/>
        </p:nvSpPr>
        <p:spPr>
          <a:xfrm>
            <a:off x="457200" y="2011680"/>
            <a:ext cx="5943600" cy="457200"/>
          </a:xfrm>
          <a:prstGeom prst="rect">
            <a:avLst/>
          </a:prstGeom>
          <a:noFill/>
          <a:ln/>
        </p:spPr>
        <p:txBody>
          <a:bodyPr wrap="square" lIns="0" tIns="0" rIns="0" bIns="0" rtlCol="0" anchor="ctr"/>
          <a:lstStyle/>
          <a:p>
            <a:pPr marL="0" indent="0">
              <a:buNone/>
            </a:pPr>
            <a:r>
              <a:rPr lang="en-US" sz="1800" dirty="0">
                <a:solidFill>
                  <a:srgbClr val="E8C87A"/>
                </a:solidFill>
                <a:latin typeface="Calibri" pitchFamily="34" charset="0"/>
                <a:ea typeface="Calibri" pitchFamily="34" charset="-122"/>
                <a:cs typeface="Calibri" pitchFamily="34" charset="-120"/>
              </a:rPr>
              <a:t>Regression Analysis of Scoring, Putting &amp; Driving</a:t>
            </a:r>
            <a:endParaRPr lang="en-US" sz="1800" dirty="0"/>
          </a:p>
        </p:txBody>
      </p:sp>
      <p:sp>
        <p:nvSpPr>
          <p:cNvPr id="8" name="Shape 6"/>
          <p:cNvSpPr/>
          <p:nvPr/>
        </p:nvSpPr>
        <p:spPr>
          <a:xfrm>
            <a:off x="457200" y="2606040"/>
            <a:ext cx="5029200" cy="36576"/>
          </a:xfrm>
          <a:prstGeom prst="rect">
            <a:avLst/>
          </a:prstGeom>
          <a:solidFill>
            <a:srgbClr val="64748B"/>
          </a:solidFill>
          <a:ln w="12700">
            <a:solidFill>
              <a:srgbClr val="64748B"/>
            </a:solidFill>
            <a:prstDash val="solid"/>
          </a:ln>
        </p:spPr>
        <p:txBody>
          <a:bodyPr/>
          <a:lstStyle/>
          <a:p>
            <a:endParaRPr lang="en-US"/>
          </a:p>
        </p:txBody>
      </p:sp>
      <p:sp>
        <p:nvSpPr>
          <p:cNvPr id="9" name="Text 7"/>
          <p:cNvSpPr/>
          <p:nvPr/>
        </p:nvSpPr>
        <p:spPr>
          <a:xfrm>
            <a:off x="457200" y="2834640"/>
            <a:ext cx="594360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Statistical Analysis of PGA Tour Performance Metrics</a:t>
            </a:r>
            <a:endParaRPr lang="en-US" sz="1300" dirty="0"/>
          </a:p>
        </p:txBody>
      </p:sp>
      <p:sp>
        <p:nvSpPr>
          <p:cNvPr id="10" name="Text 8"/>
          <p:cNvSpPr/>
          <p:nvPr/>
        </p:nvSpPr>
        <p:spPr>
          <a:xfrm>
            <a:off x="457200" y="4389120"/>
            <a:ext cx="5943600" cy="320040"/>
          </a:xfrm>
          <a:prstGeom prst="rect">
            <a:avLst/>
          </a:prstGeom>
          <a:noFill/>
          <a:ln/>
        </p:spPr>
        <p:txBody>
          <a:bodyPr wrap="square" lIns="0" tIns="0" rIns="0" bIns="0" rtlCol="0" anchor="ctr"/>
          <a:lstStyle/>
          <a:p>
            <a:pPr marL="0" indent="0">
              <a:buNone/>
            </a:pPr>
            <a:r>
              <a:rPr lang="en-US" sz="1000" kern="0" spc="200" dirty="0">
                <a:solidFill>
                  <a:srgbClr val="C9A84C"/>
                </a:solidFill>
                <a:latin typeface="Calibri" pitchFamily="34" charset="0"/>
                <a:ea typeface="Calibri" pitchFamily="34" charset="-122"/>
                <a:cs typeface="Calibri" pitchFamily="34" charset="-120"/>
              </a:rPr>
              <a:t>RESEARCH QUESTIONS  •  Q1  •  Q2  •  Q3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Research Questions Overview</a:t>
            </a:r>
            <a:endParaRPr lang="en-US" sz="2000" dirty="0"/>
          </a:p>
        </p:txBody>
      </p:sp>
      <p:sp>
        <p:nvSpPr>
          <p:cNvPr id="4" name="Shape 2"/>
          <p:cNvSpPr/>
          <p:nvPr/>
        </p:nvSpPr>
        <p:spPr>
          <a:xfrm>
            <a:off x="320040" y="960120"/>
            <a:ext cx="8503920" cy="10515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5" name="Shape 3"/>
          <p:cNvSpPr/>
          <p:nvPr/>
        </p:nvSpPr>
        <p:spPr>
          <a:xfrm>
            <a:off x="320040" y="960120"/>
            <a:ext cx="109728" cy="1051560"/>
          </a:xfrm>
          <a:prstGeom prst="rect">
            <a:avLst/>
          </a:prstGeom>
          <a:solidFill>
            <a:srgbClr val="C9A84C"/>
          </a:solidFill>
          <a:ln w="12700">
            <a:solidFill>
              <a:srgbClr val="C9A84C"/>
            </a:solidFill>
            <a:prstDash val="solid"/>
          </a:ln>
        </p:spPr>
        <p:txBody>
          <a:bodyPr/>
          <a:lstStyle/>
          <a:p>
            <a:endParaRPr lang="en-US"/>
          </a:p>
        </p:txBody>
      </p:sp>
      <p:sp>
        <p:nvSpPr>
          <p:cNvPr id="6" name="Text 4"/>
          <p:cNvSpPr/>
          <p:nvPr/>
        </p:nvSpPr>
        <p:spPr>
          <a:xfrm>
            <a:off x="475488" y="960120"/>
            <a:ext cx="640080" cy="1051560"/>
          </a:xfrm>
          <a:prstGeom prst="rect">
            <a:avLst/>
          </a:prstGeom>
          <a:noFill/>
          <a:ln/>
        </p:spPr>
        <p:txBody>
          <a:bodyPr wrap="square" lIns="0" tIns="0" rIns="0" bIns="0" rtlCol="0" anchor="ctr"/>
          <a:lstStyle/>
          <a:p>
            <a:pPr marL="0" indent="0" algn="ctr">
              <a:buNone/>
            </a:pPr>
            <a:r>
              <a:rPr lang="en-US" sz="2200" b="1" dirty="0">
                <a:solidFill>
                  <a:srgbClr val="C9A84C"/>
                </a:solidFill>
                <a:latin typeface="Georgia" pitchFamily="34" charset="0"/>
                <a:ea typeface="Georgia" pitchFamily="34" charset="-122"/>
                <a:cs typeface="Georgia" pitchFamily="34" charset="-120"/>
              </a:rPr>
              <a:t>Q1</a:t>
            </a:r>
            <a:endParaRPr lang="en-US" sz="2200" dirty="0"/>
          </a:p>
        </p:txBody>
      </p:sp>
      <p:sp>
        <p:nvSpPr>
          <p:cNvPr id="7" name="Text 5"/>
          <p:cNvSpPr/>
          <p:nvPr/>
        </p:nvSpPr>
        <p:spPr>
          <a:xfrm>
            <a:off x="1188720" y="1024128"/>
            <a:ext cx="7406640" cy="365760"/>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Putting vs. Driving: Which Has a Stronger Impact on Scoring?</a:t>
            </a:r>
            <a:endParaRPr lang="en-US" sz="1500" dirty="0"/>
          </a:p>
        </p:txBody>
      </p:sp>
      <p:sp>
        <p:nvSpPr>
          <p:cNvPr id="8" name="Text 6"/>
          <p:cNvSpPr/>
          <p:nvPr/>
        </p:nvSpPr>
        <p:spPr>
          <a:xfrm>
            <a:off x="1188720" y="1435608"/>
            <a:ext cx="740664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Comparing regression models to evaluate which skill type is more predictive of score.</a:t>
            </a:r>
            <a:endParaRPr lang="en-US" sz="1200" dirty="0"/>
          </a:p>
        </p:txBody>
      </p:sp>
      <p:sp>
        <p:nvSpPr>
          <p:cNvPr id="9" name="Shape 7"/>
          <p:cNvSpPr/>
          <p:nvPr/>
        </p:nvSpPr>
        <p:spPr>
          <a:xfrm>
            <a:off x="320040" y="2148840"/>
            <a:ext cx="8503920" cy="10515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0" name="Shape 8"/>
          <p:cNvSpPr/>
          <p:nvPr/>
        </p:nvSpPr>
        <p:spPr>
          <a:xfrm>
            <a:off x="320040" y="2148840"/>
            <a:ext cx="109728" cy="1051560"/>
          </a:xfrm>
          <a:prstGeom prst="rect">
            <a:avLst/>
          </a:prstGeom>
          <a:solidFill>
            <a:srgbClr val="1A7A4A"/>
          </a:solidFill>
          <a:ln w="12700">
            <a:solidFill>
              <a:srgbClr val="1A7A4A"/>
            </a:solidFill>
            <a:prstDash val="solid"/>
          </a:ln>
        </p:spPr>
        <p:txBody>
          <a:bodyPr/>
          <a:lstStyle/>
          <a:p>
            <a:endParaRPr lang="en-US"/>
          </a:p>
        </p:txBody>
      </p:sp>
      <p:sp>
        <p:nvSpPr>
          <p:cNvPr id="11" name="Text 9"/>
          <p:cNvSpPr/>
          <p:nvPr/>
        </p:nvSpPr>
        <p:spPr>
          <a:xfrm>
            <a:off x="475488" y="2148840"/>
            <a:ext cx="640080" cy="1051560"/>
          </a:xfrm>
          <a:prstGeom prst="rect">
            <a:avLst/>
          </a:prstGeom>
          <a:noFill/>
          <a:ln/>
        </p:spPr>
        <p:txBody>
          <a:bodyPr wrap="square" lIns="0" tIns="0" rIns="0" bIns="0" rtlCol="0" anchor="ctr"/>
          <a:lstStyle/>
          <a:p>
            <a:pPr marL="0" indent="0" algn="ctr">
              <a:buNone/>
            </a:pPr>
            <a:r>
              <a:rPr lang="en-US" sz="2200" b="1" dirty="0">
                <a:solidFill>
                  <a:srgbClr val="1A7A4A"/>
                </a:solidFill>
                <a:latin typeface="Georgia" pitchFamily="34" charset="0"/>
                <a:ea typeface="Georgia" pitchFamily="34" charset="-122"/>
                <a:cs typeface="Georgia" pitchFamily="34" charset="-120"/>
              </a:rPr>
              <a:t>Q2</a:t>
            </a:r>
            <a:endParaRPr lang="en-US" sz="2200" dirty="0"/>
          </a:p>
        </p:txBody>
      </p:sp>
      <p:sp>
        <p:nvSpPr>
          <p:cNvPr id="12" name="Text 10"/>
          <p:cNvSpPr/>
          <p:nvPr/>
        </p:nvSpPr>
        <p:spPr>
          <a:xfrm>
            <a:off x="1188720" y="2212848"/>
            <a:ext cx="7406640" cy="365760"/>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Which Variables Are Statistically Significant with the Largest Coefficients?</a:t>
            </a:r>
            <a:endParaRPr lang="en-US" sz="1500" dirty="0"/>
          </a:p>
        </p:txBody>
      </p:sp>
      <p:sp>
        <p:nvSpPr>
          <p:cNvPr id="13" name="Text 11"/>
          <p:cNvSpPr/>
          <p:nvPr/>
        </p:nvSpPr>
        <p:spPr>
          <a:xfrm>
            <a:off x="1188720" y="2624328"/>
            <a:ext cx="740664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Analyzing regression output for significance levels and effect sizes across all metrics.</a:t>
            </a:r>
            <a:endParaRPr lang="en-US" sz="1200" dirty="0"/>
          </a:p>
        </p:txBody>
      </p:sp>
      <p:sp>
        <p:nvSpPr>
          <p:cNvPr id="14" name="Shape 12"/>
          <p:cNvSpPr/>
          <p:nvPr/>
        </p:nvSpPr>
        <p:spPr>
          <a:xfrm>
            <a:off x="320040" y="3337560"/>
            <a:ext cx="8503920" cy="10515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5" name="Shape 13"/>
          <p:cNvSpPr/>
          <p:nvPr/>
        </p:nvSpPr>
        <p:spPr>
          <a:xfrm>
            <a:off x="320040" y="3337560"/>
            <a:ext cx="109728" cy="1051560"/>
          </a:xfrm>
          <a:prstGeom prst="rect">
            <a:avLst/>
          </a:prstGeom>
          <a:solidFill>
            <a:srgbClr val="C0392B"/>
          </a:solidFill>
          <a:ln w="12700">
            <a:solidFill>
              <a:srgbClr val="C0392B"/>
            </a:solidFill>
            <a:prstDash val="solid"/>
          </a:ln>
        </p:spPr>
        <p:txBody>
          <a:bodyPr/>
          <a:lstStyle/>
          <a:p>
            <a:endParaRPr lang="en-US"/>
          </a:p>
        </p:txBody>
      </p:sp>
      <p:sp>
        <p:nvSpPr>
          <p:cNvPr id="16" name="Text 14"/>
          <p:cNvSpPr/>
          <p:nvPr/>
        </p:nvSpPr>
        <p:spPr>
          <a:xfrm>
            <a:off x="475488" y="3337560"/>
            <a:ext cx="640080" cy="1051560"/>
          </a:xfrm>
          <a:prstGeom prst="rect">
            <a:avLst/>
          </a:prstGeom>
          <a:noFill/>
          <a:ln/>
        </p:spPr>
        <p:txBody>
          <a:bodyPr wrap="square" lIns="0" tIns="0" rIns="0" bIns="0" rtlCol="0" anchor="ctr"/>
          <a:lstStyle/>
          <a:p>
            <a:pPr marL="0" indent="0" algn="ctr">
              <a:buNone/>
            </a:pPr>
            <a:r>
              <a:rPr lang="en-US" sz="2200" b="1" dirty="0">
                <a:solidFill>
                  <a:srgbClr val="C0392B"/>
                </a:solidFill>
                <a:latin typeface="Georgia" pitchFamily="34" charset="0"/>
                <a:ea typeface="Georgia" pitchFamily="34" charset="-122"/>
                <a:cs typeface="Georgia" pitchFamily="34" charset="-120"/>
              </a:rPr>
              <a:t>Q3</a:t>
            </a:r>
            <a:endParaRPr lang="en-US" sz="2200" dirty="0"/>
          </a:p>
        </p:txBody>
      </p:sp>
      <p:sp>
        <p:nvSpPr>
          <p:cNvPr id="17" name="Text 15"/>
          <p:cNvSpPr/>
          <p:nvPr/>
        </p:nvSpPr>
        <p:spPr>
          <a:xfrm>
            <a:off x="1188720" y="3401568"/>
            <a:ext cx="7406640" cy="365760"/>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Do Top Earners Share Similar Performance Characteristics?</a:t>
            </a:r>
            <a:endParaRPr lang="en-US" sz="1500" dirty="0"/>
          </a:p>
        </p:txBody>
      </p:sp>
      <p:sp>
        <p:nvSpPr>
          <p:cNvPr id="18" name="Text 16"/>
          <p:cNvSpPr/>
          <p:nvPr/>
        </p:nvSpPr>
        <p:spPr>
          <a:xfrm>
            <a:off x="1188720" y="3813048"/>
            <a:ext cx="740664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Investigating whether success is driven by balanced skills or dominance in a single area.</a:t>
            </a:r>
            <a:endParaRPr lang="en-US" sz="1200" dirty="0"/>
          </a:p>
        </p:txBody>
      </p:sp>
      <p:sp>
        <p:nvSpPr>
          <p:cNvPr id="19" name="Text 17"/>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txBody>
          <a:bodyPr/>
          <a:lstStyle/>
          <a:p>
            <a:endParaRPr lang="en-US"/>
          </a:p>
        </p:txBody>
      </p:sp>
      <p:sp>
        <p:nvSpPr>
          <p:cNvPr id="3" name="Shape 1"/>
          <p:cNvSpPr/>
          <p:nvPr/>
        </p:nvSpPr>
        <p:spPr>
          <a:xfrm>
            <a:off x="0" y="1828800"/>
            <a:ext cx="9144000" cy="1554480"/>
          </a:xfrm>
          <a:prstGeom prst="rect">
            <a:avLst/>
          </a:prstGeom>
          <a:solidFill>
            <a:srgbClr val="1B2E45"/>
          </a:solidFill>
          <a:ln w="12700">
            <a:solidFill>
              <a:srgbClr val="1B2E45"/>
            </a:solidFill>
            <a:prstDash val="solid"/>
          </a:ln>
        </p:spPr>
        <p:txBody>
          <a:bodyPr/>
          <a:lstStyle/>
          <a:p>
            <a:endParaRPr lang="en-US"/>
          </a:p>
        </p:txBody>
      </p:sp>
      <p:sp>
        <p:nvSpPr>
          <p:cNvPr id="4" name="Text 2"/>
          <p:cNvSpPr/>
          <p:nvPr/>
        </p:nvSpPr>
        <p:spPr>
          <a:xfrm>
            <a:off x="457200" y="1097280"/>
            <a:ext cx="8229600" cy="365760"/>
          </a:xfrm>
          <a:prstGeom prst="rect">
            <a:avLst/>
          </a:prstGeom>
          <a:noFill/>
          <a:ln/>
        </p:spPr>
        <p:txBody>
          <a:bodyPr wrap="square" lIns="0" tIns="0" rIns="0" bIns="0" rtlCol="0" anchor="ctr"/>
          <a:lstStyle/>
          <a:p>
            <a:pPr marL="0" indent="0">
              <a:buNone/>
            </a:pPr>
            <a:r>
              <a:rPr lang="en-US" sz="1300" b="1" kern="0" spc="300" dirty="0">
                <a:solidFill>
                  <a:srgbClr val="C9A84C"/>
                </a:solidFill>
                <a:latin typeface="Calibri" pitchFamily="34" charset="0"/>
                <a:ea typeface="Calibri" pitchFamily="34" charset="-122"/>
                <a:cs typeface="Calibri" pitchFamily="34" charset="-120"/>
              </a:rPr>
              <a:t>RESEARCH QUESTION 1</a:t>
            </a:r>
            <a:endParaRPr lang="en-US" sz="1300" dirty="0"/>
          </a:p>
        </p:txBody>
      </p:sp>
      <p:sp>
        <p:nvSpPr>
          <p:cNvPr id="5" name="Text 3"/>
          <p:cNvSpPr/>
          <p:nvPr/>
        </p:nvSpPr>
        <p:spPr>
          <a:xfrm>
            <a:off x="457200" y="150876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Putting vs. Driving:</a:t>
            </a:r>
            <a:endParaRPr lang="en-US" sz="3600" dirty="0"/>
          </a:p>
        </p:txBody>
      </p:sp>
      <p:sp>
        <p:nvSpPr>
          <p:cNvPr id="6" name="Text 4"/>
          <p:cNvSpPr/>
          <p:nvPr/>
        </p:nvSpPr>
        <p:spPr>
          <a:xfrm>
            <a:off x="457200" y="2103120"/>
            <a:ext cx="8229600" cy="548640"/>
          </a:xfrm>
          <a:prstGeom prst="rect">
            <a:avLst/>
          </a:prstGeom>
          <a:noFill/>
          <a:ln/>
        </p:spPr>
        <p:txBody>
          <a:bodyPr wrap="square" lIns="0" tIns="0" rIns="0" bIns="0" rtlCol="0" anchor="ctr"/>
          <a:lstStyle/>
          <a:p>
            <a:pPr marL="0" indent="0">
              <a:buNone/>
            </a:pPr>
            <a:r>
              <a:rPr lang="en-US" sz="2400" dirty="0">
                <a:solidFill>
                  <a:srgbClr val="E8C87A"/>
                </a:solidFill>
                <a:latin typeface="Georgia" pitchFamily="34" charset="0"/>
                <a:ea typeface="Georgia" pitchFamily="34" charset="-122"/>
                <a:cs typeface="Georgia" pitchFamily="34" charset="-120"/>
              </a:rPr>
              <a:t>Which Has a Stronger Impact on Scoring?</a:t>
            </a:r>
            <a:endParaRPr lang="en-US" sz="2400" dirty="0"/>
          </a:p>
        </p:txBody>
      </p:sp>
      <p:sp>
        <p:nvSpPr>
          <p:cNvPr id="7" name="Text 5"/>
          <p:cNvSpPr/>
          <p:nvPr/>
        </p:nvSpPr>
        <p:spPr>
          <a:xfrm>
            <a:off x="457200" y="2926080"/>
            <a:ext cx="8229600"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Comparing regression models across putting accuracy and driving distance metrics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Q1 — Putting vs. Driving: Key Findings</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C9A84C"/>
                </a:solidFill>
                <a:latin typeface="Georgia" pitchFamily="34" charset="0"/>
                <a:ea typeface="Georgia" pitchFamily="34" charset="-122"/>
                <a:cs typeface="Georgia" pitchFamily="34" charset="-120"/>
              </a:rPr>
              <a:t>Q1</a:t>
            </a:r>
            <a:endParaRPr lang="en-US" sz="2000" dirty="0"/>
          </a:p>
        </p:txBody>
      </p:sp>
      <p:sp>
        <p:nvSpPr>
          <p:cNvPr id="5" name="Shape 3"/>
          <p:cNvSpPr/>
          <p:nvPr/>
        </p:nvSpPr>
        <p:spPr>
          <a:xfrm>
            <a:off x="365760" y="868680"/>
            <a:ext cx="8412480" cy="713232"/>
          </a:xfrm>
          <a:prstGeom prst="rect">
            <a:avLst/>
          </a:prstGeom>
          <a:solidFill>
            <a:srgbClr val="0D1B2A"/>
          </a:solidFill>
          <a:ln w="12700">
            <a:solidFill>
              <a:srgbClr val="0D1B2A"/>
            </a:solidFill>
            <a:prstDash val="solid"/>
          </a:ln>
          <a:effectLst>
            <a:outerShdw blurRad="50800" dist="25400" dir="8100000" algn="bl" rotWithShape="0">
              <a:srgbClr val="000000">
                <a:alpha val="9000"/>
              </a:srgbClr>
            </a:outerShdw>
          </a:effectLst>
        </p:spPr>
        <p:txBody>
          <a:bodyPr/>
          <a:lstStyle/>
          <a:p>
            <a:endParaRPr lang="en-US"/>
          </a:p>
        </p:txBody>
      </p:sp>
      <p:sp>
        <p:nvSpPr>
          <p:cNvPr id="6" name="Text 4"/>
          <p:cNvSpPr/>
          <p:nvPr/>
        </p:nvSpPr>
        <p:spPr>
          <a:xfrm>
            <a:off x="365760" y="868680"/>
            <a:ext cx="841248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Putting shows a stronger and more consistent relationship with scoring,</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while driving distance has a weaker and less differentiating impact.</a:t>
            </a:r>
            <a:endParaRPr lang="en-US" sz="1300" dirty="0"/>
          </a:p>
        </p:txBody>
      </p:sp>
      <p:sp>
        <p:nvSpPr>
          <p:cNvPr id="7" name="Shape 5"/>
          <p:cNvSpPr/>
          <p:nvPr/>
        </p:nvSpPr>
        <p:spPr>
          <a:xfrm>
            <a:off x="365760" y="1719072"/>
            <a:ext cx="4114800" cy="294436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8" name="Shape 6"/>
          <p:cNvSpPr/>
          <p:nvPr/>
        </p:nvSpPr>
        <p:spPr>
          <a:xfrm>
            <a:off x="365760" y="1719072"/>
            <a:ext cx="4114800" cy="365760"/>
          </a:xfrm>
          <a:prstGeom prst="rect">
            <a:avLst/>
          </a:prstGeom>
          <a:solidFill>
            <a:srgbClr val="1A7A4A"/>
          </a:solidFill>
          <a:ln w="12700">
            <a:solidFill>
              <a:srgbClr val="1A7A4A"/>
            </a:solidFill>
            <a:prstDash val="solid"/>
          </a:ln>
        </p:spPr>
        <p:txBody>
          <a:bodyPr/>
          <a:lstStyle/>
          <a:p>
            <a:endParaRPr lang="en-US"/>
          </a:p>
        </p:txBody>
      </p:sp>
      <p:sp>
        <p:nvSpPr>
          <p:cNvPr id="9" name="Text 7"/>
          <p:cNvSpPr/>
          <p:nvPr/>
        </p:nvSpPr>
        <p:spPr>
          <a:xfrm>
            <a:off x="457200" y="1719072"/>
            <a:ext cx="393192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PUTTING  (Stronger Impact)</a:t>
            </a:r>
            <a:endParaRPr lang="en-US" sz="1200" dirty="0"/>
          </a:p>
        </p:txBody>
      </p:sp>
      <p:sp>
        <p:nvSpPr>
          <p:cNvPr id="10" name="Text 8"/>
          <p:cNvSpPr/>
          <p:nvPr/>
        </p:nvSpPr>
        <p:spPr>
          <a:xfrm>
            <a:off x="502920" y="2139696"/>
            <a:ext cx="3840480" cy="246888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Statistically significant regression coefficients</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Consistent relationship across player skill levels</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Higher R² — explains more variance in scoring</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Putts per round directly tied to lower scores</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Strong predictor across both regression models</a:t>
            </a:r>
            <a:endParaRPr lang="en-US" sz="1200" dirty="0"/>
          </a:p>
        </p:txBody>
      </p:sp>
      <p:sp>
        <p:nvSpPr>
          <p:cNvPr id="11" name="Shape 9"/>
          <p:cNvSpPr/>
          <p:nvPr/>
        </p:nvSpPr>
        <p:spPr>
          <a:xfrm>
            <a:off x="4663440" y="1719072"/>
            <a:ext cx="4114800" cy="294436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2" name="Shape 10"/>
          <p:cNvSpPr/>
          <p:nvPr/>
        </p:nvSpPr>
        <p:spPr>
          <a:xfrm>
            <a:off x="4663440" y="1719072"/>
            <a:ext cx="4114800" cy="365760"/>
          </a:xfrm>
          <a:prstGeom prst="rect">
            <a:avLst/>
          </a:prstGeom>
          <a:solidFill>
            <a:srgbClr val="64748B"/>
          </a:solidFill>
          <a:ln w="12700">
            <a:solidFill>
              <a:srgbClr val="64748B"/>
            </a:solidFill>
            <a:prstDash val="solid"/>
          </a:ln>
        </p:spPr>
        <p:txBody>
          <a:bodyPr/>
          <a:lstStyle/>
          <a:p>
            <a:endParaRPr lang="en-US"/>
          </a:p>
        </p:txBody>
      </p:sp>
      <p:sp>
        <p:nvSpPr>
          <p:cNvPr id="13" name="Text 11"/>
          <p:cNvSpPr/>
          <p:nvPr/>
        </p:nvSpPr>
        <p:spPr>
          <a:xfrm>
            <a:off x="4754880" y="1719072"/>
            <a:ext cx="393192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DRIVING  (Weaker Impact)</a:t>
            </a:r>
            <a:endParaRPr lang="en-US" sz="1200" dirty="0"/>
          </a:p>
        </p:txBody>
      </p:sp>
      <p:sp>
        <p:nvSpPr>
          <p:cNvPr id="14" name="Text 12"/>
          <p:cNvSpPr/>
          <p:nvPr/>
        </p:nvSpPr>
        <p:spPr>
          <a:xfrm>
            <a:off x="4800600" y="2139696"/>
            <a:ext cx="3840480" cy="246888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Weaker regression coefficients overall</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Less differentiating across player tiers</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Lower R² — explains less scoring variance</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Distance alone doesn't consistently lower scores</a:t>
            </a:r>
            <a:endParaRPr lang="en-US" sz="1200" dirty="0"/>
          </a:p>
          <a:p>
            <a:pPr marL="0" indent="0">
              <a:buNone/>
            </a:pPr>
            <a:r>
              <a:rPr lang="en-US" sz="1200" b="1" dirty="0">
                <a:solidFill>
                  <a:srgbClr val="0D1B2A"/>
                </a:solidFill>
                <a:latin typeface="Calibri" pitchFamily="34" charset="0"/>
                <a:ea typeface="Calibri" pitchFamily="34" charset="-122"/>
                <a:cs typeface="Calibri" pitchFamily="34" charset="-120"/>
              </a:rPr>
              <a:t>•  </a:t>
            </a:r>
            <a:r>
              <a:rPr lang="en-US" sz="1200" dirty="0">
                <a:solidFill>
                  <a:srgbClr val="0D1B2A"/>
                </a:solidFill>
                <a:latin typeface="Calibri" pitchFamily="34" charset="0"/>
                <a:ea typeface="Calibri" pitchFamily="34" charset="-122"/>
                <a:cs typeface="Calibri" pitchFamily="34" charset="-120"/>
              </a:rPr>
              <a:t>More indirect path to scoring outcomes</a:t>
            </a:r>
            <a:endParaRPr lang="en-US" sz="1200" dirty="0"/>
          </a:p>
        </p:txBody>
      </p:sp>
      <p:sp>
        <p:nvSpPr>
          <p:cNvPr id="15" name="Text 13"/>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Q1 — Regression Scatter: Putting vs. Driving Distance</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C9A84C"/>
                </a:solidFill>
                <a:latin typeface="Georgia" pitchFamily="34" charset="0"/>
                <a:ea typeface="Georgia" pitchFamily="34" charset="-122"/>
                <a:cs typeface="Georgia" pitchFamily="34" charset="-120"/>
              </a:rPr>
              <a:t>Q1</a:t>
            </a:r>
            <a:endParaRPr lang="en-US" sz="2000" dirty="0"/>
          </a:p>
        </p:txBody>
      </p:sp>
      <p:pic>
        <p:nvPicPr>
          <p:cNvPr id="5" name="Image 0" descr="preencoded.png"/>
          <p:cNvPicPr>
            <a:picLocks noChangeAspect="1"/>
          </p:cNvPicPr>
          <p:nvPr/>
        </p:nvPicPr>
        <p:blipFill>
          <a:blip r:embed="rId3"/>
          <a:srcRect/>
          <a:stretch/>
        </p:blipFill>
        <p:spPr>
          <a:xfrm>
            <a:off x="365760" y="822960"/>
            <a:ext cx="8412480" cy="3749040"/>
          </a:xfrm>
          <a:prstGeom prst="rect">
            <a:avLst/>
          </a:prstGeom>
        </p:spPr>
      </p:pic>
      <p:sp>
        <p:nvSpPr>
          <p:cNvPr id="6" name="Text 3"/>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A4A"/>
          </a:solidFill>
          <a:ln w="12700">
            <a:solidFill>
              <a:srgbClr val="1A7A4A"/>
            </a:solidFill>
            <a:prstDash val="solid"/>
          </a:ln>
        </p:spPr>
        <p:txBody>
          <a:bodyPr/>
          <a:lstStyle/>
          <a:p>
            <a:endParaRPr lang="en-US"/>
          </a:p>
        </p:txBody>
      </p:sp>
      <p:sp>
        <p:nvSpPr>
          <p:cNvPr id="3" name="Shape 1"/>
          <p:cNvSpPr/>
          <p:nvPr/>
        </p:nvSpPr>
        <p:spPr>
          <a:xfrm>
            <a:off x="0" y="1828800"/>
            <a:ext cx="9144000" cy="1554480"/>
          </a:xfrm>
          <a:prstGeom prst="rect">
            <a:avLst/>
          </a:prstGeom>
          <a:solidFill>
            <a:srgbClr val="1B2E45"/>
          </a:solidFill>
          <a:ln w="12700">
            <a:solidFill>
              <a:srgbClr val="1B2E45"/>
            </a:solidFill>
            <a:prstDash val="solid"/>
          </a:ln>
        </p:spPr>
        <p:txBody>
          <a:bodyPr/>
          <a:lstStyle/>
          <a:p>
            <a:endParaRPr lang="en-US"/>
          </a:p>
        </p:txBody>
      </p:sp>
      <p:sp>
        <p:nvSpPr>
          <p:cNvPr id="4" name="Text 2"/>
          <p:cNvSpPr/>
          <p:nvPr/>
        </p:nvSpPr>
        <p:spPr>
          <a:xfrm>
            <a:off x="457200" y="1097280"/>
            <a:ext cx="8229600" cy="365760"/>
          </a:xfrm>
          <a:prstGeom prst="rect">
            <a:avLst/>
          </a:prstGeom>
          <a:noFill/>
          <a:ln/>
        </p:spPr>
        <p:txBody>
          <a:bodyPr wrap="square" lIns="0" tIns="0" rIns="0" bIns="0" rtlCol="0" anchor="ctr"/>
          <a:lstStyle/>
          <a:p>
            <a:pPr marL="0" indent="0">
              <a:buNone/>
            </a:pPr>
            <a:r>
              <a:rPr lang="en-US" sz="1300" b="1" kern="0" spc="300" dirty="0">
                <a:solidFill>
                  <a:srgbClr val="1A7A4A"/>
                </a:solidFill>
                <a:latin typeface="Calibri" pitchFamily="34" charset="0"/>
                <a:ea typeface="Calibri" pitchFamily="34" charset="-122"/>
                <a:cs typeface="Calibri" pitchFamily="34" charset="-120"/>
              </a:rPr>
              <a:t>RESEARCH QUESTION 2</a:t>
            </a:r>
            <a:endParaRPr lang="en-US" sz="1300" dirty="0"/>
          </a:p>
        </p:txBody>
      </p:sp>
      <p:sp>
        <p:nvSpPr>
          <p:cNvPr id="5" name="Text 3"/>
          <p:cNvSpPr/>
          <p:nvPr/>
        </p:nvSpPr>
        <p:spPr>
          <a:xfrm>
            <a:off x="457200" y="150876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Statistical Significance</a:t>
            </a:r>
            <a:endParaRPr lang="en-US" sz="3600" dirty="0"/>
          </a:p>
        </p:txBody>
      </p:sp>
      <p:sp>
        <p:nvSpPr>
          <p:cNvPr id="6" name="Text 4"/>
          <p:cNvSpPr/>
          <p:nvPr/>
        </p:nvSpPr>
        <p:spPr>
          <a:xfrm>
            <a:off x="457200" y="2148840"/>
            <a:ext cx="8229600" cy="502920"/>
          </a:xfrm>
          <a:prstGeom prst="rect">
            <a:avLst/>
          </a:prstGeom>
          <a:noFill/>
          <a:ln/>
        </p:spPr>
        <p:txBody>
          <a:bodyPr wrap="square" lIns="0" tIns="0" rIns="0" bIns="0" rtlCol="0" anchor="ctr"/>
          <a:lstStyle/>
          <a:p>
            <a:pPr marL="0" indent="0">
              <a:buNone/>
            </a:pPr>
            <a:r>
              <a:rPr lang="en-US" sz="2400" dirty="0">
                <a:solidFill>
                  <a:srgbClr val="7FCF9F"/>
                </a:solidFill>
                <a:latin typeface="Georgia" pitchFamily="34" charset="0"/>
                <a:ea typeface="Georgia" pitchFamily="34" charset="-122"/>
                <a:cs typeface="Georgia" pitchFamily="34" charset="-120"/>
              </a:rPr>
              <a:t>&amp; Largest Regression Coefficients</a:t>
            </a:r>
            <a:endParaRPr lang="en-US" sz="2400" dirty="0"/>
          </a:p>
        </p:txBody>
      </p:sp>
      <p:sp>
        <p:nvSpPr>
          <p:cNvPr id="7" name="Text 5"/>
          <p:cNvSpPr/>
          <p:nvPr/>
        </p:nvSpPr>
        <p:spPr>
          <a:xfrm>
            <a:off x="457200" y="2926080"/>
            <a:ext cx="8229600"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Which variables best explain scoring differences across PGA Tour players?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Q2 — Model A: Full Regression Output</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1A7A4A"/>
                </a:solidFill>
                <a:latin typeface="Georgia" pitchFamily="34" charset="0"/>
                <a:ea typeface="Georgia" pitchFamily="34" charset="-122"/>
                <a:cs typeface="Georgia" pitchFamily="34" charset="-120"/>
              </a:rPr>
              <a:t>Q2</a:t>
            </a:r>
            <a:endParaRPr lang="en-US" sz="2000" dirty="0"/>
          </a:p>
        </p:txBody>
      </p:sp>
      <p:pic>
        <p:nvPicPr>
          <p:cNvPr id="5" name="Image 0" descr="preencoded.png"/>
          <p:cNvPicPr>
            <a:picLocks noChangeAspect="1"/>
          </p:cNvPicPr>
          <p:nvPr/>
        </p:nvPicPr>
        <p:blipFill>
          <a:blip r:embed="rId3"/>
          <a:srcRect/>
          <a:stretch/>
        </p:blipFill>
        <p:spPr>
          <a:xfrm>
            <a:off x="320040" y="841248"/>
            <a:ext cx="3840480" cy="3886200"/>
          </a:xfrm>
          <a:prstGeom prst="rect">
            <a:avLst/>
          </a:prstGeom>
        </p:spPr>
      </p:pic>
      <p:sp>
        <p:nvSpPr>
          <p:cNvPr id="6" name="Text 3"/>
          <p:cNvSpPr/>
          <p:nvPr/>
        </p:nvSpPr>
        <p:spPr>
          <a:xfrm>
            <a:off x="4343400" y="868680"/>
            <a:ext cx="4572000" cy="256032"/>
          </a:xfrm>
          <a:prstGeom prst="rect">
            <a:avLst/>
          </a:prstGeom>
          <a:noFill/>
          <a:ln/>
        </p:spPr>
        <p:txBody>
          <a:bodyPr wrap="square" lIns="0" tIns="0" rIns="0" bIns="0" rtlCol="0" anchor="ctr"/>
          <a:lstStyle/>
          <a:p>
            <a:pPr marL="0" indent="0">
              <a:buNone/>
            </a:pPr>
            <a:r>
              <a:rPr lang="en-US" sz="900" b="1" kern="0" spc="200" dirty="0">
                <a:solidFill>
                  <a:srgbClr val="1A7A4A"/>
                </a:solidFill>
                <a:latin typeface="Calibri" pitchFamily="34" charset="0"/>
                <a:ea typeface="Calibri" pitchFamily="34" charset="-122"/>
                <a:cs typeface="Calibri" pitchFamily="34" charset="-120"/>
              </a:rPr>
              <a:t>KEY VARIABLE FINDINGS</a:t>
            </a:r>
            <a:endParaRPr lang="en-US" sz="900" dirty="0"/>
          </a:p>
        </p:txBody>
      </p:sp>
      <p:sp>
        <p:nvSpPr>
          <p:cNvPr id="7" name="Shape 4"/>
          <p:cNvSpPr/>
          <p:nvPr/>
        </p:nvSpPr>
        <p:spPr>
          <a:xfrm>
            <a:off x="4343400" y="1170432"/>
            <a:ext cx="4526280" cy="8229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8" name="Shape 5"/>
          <p:cNvSpPr/>
          <p:nvPr/>
        </p:nvSpPr>
        <p:spPr>
          <a:xfrm>
            <a:off x="4343400" y="1170432"/>
            <a:ext cx="91440" cy="822960"/>
          </a:xfrm>
          <a:prstGeom prst="rect">
            <a:avLst/>
          </a:prstGeom>
          <a:solidFill>
            <a:srgbClr val="1A7A4A"/>
          </a:solidFill>
          <a:ln w="12700">
            <a:solidFill>
              <a:srgbClr val="1A7A4A"/>
            </a:solidFill>
            <a:prstDash val="solid"/>
          </a:ln>
        </p:spPr>
        <p:txBody>
          <a:bodyPr/>
          <a:lstStyle/>
          <a:p>
            <a:endParaRPr lang="en-US"/>
          </a:p>
        </p:txBody>
      </p:sp>
      <p:sp>
        <p:nvSpPr>
          <p:cNvPr id="9" name="Text 6"/>
          <p:cNvSpPr/>
          <p:nvPr/>
        </p:nvSpPr>
        <p:spPr>
          <a:xfrm>
            <a:off x="4507992" y="1225296"/>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Putting (Strongest)</a:t>
            </a:r>
            <a:endParaRPr lang="en-US" sz="1200" dirty="0"/>
          </a:p>
        </p:txBody>
      </p:sp>
      <p:sp>
        <p:nvSpPr>
          <p:cNvPr id="10" name="Text 7"/>
          <p:cNvSpPr/>
          <p:nvPr/>
        </p:nvSpPr>
        <p:spPr>
          <a:xfrm>
            <a:off x="4507992" y="1536192"/>
            <a:ext cx="4306824" cy="3657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Avg Putts Per Round: coeff +0.205, p=0.0009. Largest effect — more putts = meaningfully higher score average.</a:t>
            </a:r>
            <a:endParaRPr lang="en-US" sz="1050" dirty="0"/>
          </a:p>
        </p:txBody>
      </p:sp>
      <p:sp>
        <p:nvSpPr>
          <p:cNvPr id="11" name="Shape 8"/>
          <p:cNvSpPr/>
          <p:nvPr/>
        </p:nvSpPr>
        <p:spPr>
          <a:xfrm>
            <a:off x="4343400" y="2103120"/>
            <a:ext cx="4526280" cy="8229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2" name="Shape 9"/>
          <p:cNvSpPr/>
          <p:nvPr/>
        </p:nvSpPr>
        <p:spPr>
          <a:xfrm>
            <a:off x="4343400" y="2103120"/>
            <a:ext cx="91440" cy="822960"/>
          </a:xfrm>
          <a:prstGeom prst="rect">
            <a:avLst/>
          </a:prstGeom>
          <a:solidFill>
            <a:srgbClr val="1565C0"/>
          </a:solidFill>
          <a:ln w="12700">
            <a:solidFill>
              <a:srgbClr val="1565C0"/>
            </a:solidFill>
            <a:prstDash val="solid"/>
          </a:ln>
        </p:spPr>
        <p:txBody>
          <a:bodyPr/>
          <a:lstStyle/>
          <a:p>
            <a:endParaRPr lang="en-US"/>
          </a:p>
        </p:txBody>
      </p:sp>
      <p:sp>
        <p:nvSpPr>
          <p:cNvPr id="13" name="Text 10"/>
          <p:cNvSpPr/>
          <p:nvPr/>
        </p:nvSpPr>
        <p:spPr>
          <a:xfrm>
            <a:off x="4507992" y="2157984"/>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Drive Accuracy (Important)</a:t>
            </a:r>
            <a:endParaRPr lang="en-US" sz="1200" dirty="0"/>
          </a:p>
        </p:txBody>
      </p:sp>
      <p:sp>
        <p:nvSpPr>
          <p:cNvPr id="14" name="Text 11"/>
          <p:cNvSpPr/>
          <p:nvPr/>
        </p:nvSpPr>
        <p:spPr>
          <a:xfrm>
            <a:off x="4507992" y="2468880"/>
            <a:ext cx="4306824" cy="3657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Drive Pct: coeff −0.045, p&lt;0.001. Higher accuracy = better (lower) scores. Second most impactful variable.</a:t>
            </a:r>
            <a:endParaRPr lang="en-US" sz="1050" dirty="0"/>
          </a:p>
        </p:txBody>
      </p:sp>
      <p:sp>
        <p:nvSpPr>
          <p:cNvPr id="15" name="Shape 12"/>
          <p:cNvSpPr/>
          <p:nvPr/>
        </p:nvSpPr>
        <p:spPr>
          <a:xfrm>
            <a:off x="4343400" y="3035808"/>
            <a:ext cx="4526280" cy="8229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6" name="Shape 13"/>
          <p:cNvSpPr/>
          <p:nvPr/>
        </p:nvSpPr>
        <p:spPr>
          <a:xfrm>
            <a:off x="4343400" y="3035808"/>
            <a:ext cx="91440" cy="822960"/>
          </a:xfrm>
          <a:prstGeom prst="rect">
            <a:avLst/>
          </a:prstGeom>
          <a:solidFill>
            <a:srgbClr val="E67E22"/>
          </a:solidFill>
          <a:ln w="12700">
            <a:solidFill>
              <a:srgbClr val="E67E22"/>
            </a:solidFill>
            <a:prstDash val="solid"/>
          </a:ln>
        </p:spPr>
        <p:txBody>
          <a:bodyPr/>
          <a:lstStyle/>
          <a:p>
            <a:endParaRPr lang="en-US"/>
          </a:p>
        </p:txBody>
      </p:sp>
      <p:sp>
        <p:nvSpPr>
          <p:cNvPr id="17" name="Text 14"/>
          <p:cNvSpPr/>
          <p:nvPr/>
        </p:nvSpPr>
        <p:spPr>
          <a:xfrm>
            <a:off x="4507992" y="3090672"/>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Drive Distance (Moderate)</a:t>
            </a:r>
            <a:endParaRPr lang="en-US" sz="1200" dirty="0"/>
          </a:p>
        </p:txBody>
      </p:sp>
      <p:sp>
        <p:nvSpPr>
          <p:cNvPr id="18" name="Text 15"/>
          <p:cNvSpPr/>
          <p:nvPr/>
        </p:nvSpPr>
        <p:spPr>
          <a:xfrm>
            <a:off x="4507992" y="3401568"/>
            <a:ext cx="4306824" cy="3657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Avg Drive Dist: coeff −0.030, p&lt;0.001. Statistically significant but smaller effect than accuracy.</a:t>
            </a:r>
            <a:endParaRPr lang="en-US" sz="1050" dirty="0"/>
          </a:p>
        </p:txBody>
      </p:sp>
      <p:sp>
        <p:nvSpPr>
          <p:cNvPr id="19" name="Shape 16"/>
          <p:cNvSpPr/>
          <p:nvPr/>
        </p:nvSpPr>
        <p:spPr>
          <a:xfrm>
            <a:off x="4343400" y="3968496"/>
            <a:ext cx="4526280" cy="82296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20" name="Shape 17"/>
          <p:cNvSpPr/>
          <p:nvPr/>
        </p:nvSpPr>
        <p:spPr>
          <a:xfrm>
            <a:off x="4343400" y="3968496"/>
            <a:ext cx="91440" cy="822960"/>
          </a:xfrm>
          <a:prstGeom prst="rect">
            <a:avLst/>
          </a:prstGeom>
          <a:solidFill>
            <a:srgbClr val="64748B"/>
          </a:solidFill>
          <a:ln w="12700">
            <a:solidFill>
              <a:srgbClr val="64748B"/>
            </a:solidFill>
            <a:prstDash val="solid"/>
          </a:ln>
        </p:spPr>
        <p:txBody>
          <a:bodyPr/>
          <a:lstStyle/>
          <a:p>
            <a:endParaRPr lang="en-US"/>
          </a:p>
        </p:txBody>
      </p:sp>
      <p:sp>
        <p:nvSpPr>
          <p:cNvPr id="21" name="Text 18"/>
          <p:cNvSpPr/>
          <p:nvPr/>
        </p:nvSpPr>
        <p:spPr>
          <a:xfrm>
            <a:off x="4507992" y="4023360"/>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One-Putt % (Not Significant)</a:t>
            </a:r>
            <a:endParaRPr lang="en-US" sz="1200" dirty="0"/>
          </a:p>
        </p:txBody>
      </p:sp>
      <p:sp>
        <p:nvSpPr>
          <p:cNvPr id="22" name="Text 19"/>
          <p:cNvSpPr/>
          <p:nvPr/>
        </p:nvSpPr>
        <p:spPr>
          <a:xfrm>
            <a:off x="4507992" y="4334256"/>
            <a:ext cx="4306824" cy="36576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Coeff +0.025, p≈0.061. Falls just outside the 0.05 threshold — not reliably predictive when other variables are present.</a:t>
            </a:r>
            <a:endParaRPr lang="en-US" sz="1050" dirty="0"/>
          </a:p>
        </p:txBody>
      </p:sp>
      <p:sp>
        <p:nvSpPr>
          <p:cNvPr id="23" name="Shape 20"/>
          <p:cNvSpPr/>
          <p:nvPr/>
        </p:nvSpPr>
        <p:spPr>
          <a:xfrm>
            <a:off x="4343400" y="4864608"/>
            <a:ext cx="4526280" cy="0"/>
          </a:xfrm>
          <a:prstGeom prst="rect">
            <a:avLst/>
          </a:prstGeom>
          <a:solidFill>
            <a:srgbClr val="E2E8F0"/>
          </a:solidFill>
          <a:ln w="12700">
            <a:solidFill>
              <a:srgbClr val="E2E8F0"/>
            </a:solidFill>
            <a:prstDash val="solid"/>
          </a:ln>
        </p:spPr>
        <p:txBody>
          <a:bodyPr/>
          <a:lstStyle/>
          <a:p>
            <a:endParaRPr lang="en-US"/>
          </a:p>
        </p:txBody>
      </p:sp>
      <p:sp>
        <p:nvSpPr>
          <p:cNvPr id="24" name="Text 21"/>
          <p:cNvSpPr/>
          <p:nvPr/>
        </p:nvSpPr>
        <p:spPr>
          <a:xfrm>
            <a:off x="4343400" y="4645152"/>
            <a:ext cx="4526280" cy="29260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Model R² = 0.1186 — ~11.9% of scoring variation explained; additional factors contribute beyond these metrics.</a:t>
            </a:r>
            <a:endParaRPr lang="en-US" sz="900" dirty="0"/>
          </a:p>
        </p:txBody>
      </p:sp>
      <p:sp>
        <p:nvSpPr>
          <p:cNvPr id="25" name="Text 22"/>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Q2 — Model B: Strokes Gained Regression</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1A7A4A"/>
                </a:solidFill>
                <a:latin typeface="Georgia" pitchFamily="34" charset="0"/>
                <a:ea typeface="Georgia" pitchFamily="34" charset="-122"/>
                <a:cs typeface="Georgia" pitchFamily="34" charset="-120"/>
              </a:rPr>
              <a:t>Q2</a:t>
            </a:r>
            <a:endParaRPr lang="en-US" sz="2000" dirty="0"/>
          </a:p>
        </p:txBody>
      </p:sp>
      <p:pic>
        <p:nvPicPr>
          <p:cNvPr id="5" name="Image 0" descr="preencoded.png"/>
          <p:cNvPicPr>
            <a:picLocks noChangeAspect="1"/>
          </p:cNvPicPr>
          <p:nvPr/>
        </p:nvPicPr>
        <p:blipFill>
          <a:blip r:embed="rId3"/>
          <a:srcRect/>
          <a:stretch/>
        </p:blipFill>
        <p:spPr>
          <a:xfrm>
            <a:off x="320040" y="841248"/>
            <a:ext cx="3840480" cy="3886200"/>
          </a:xfrm>
          <a:prstGeom prst="rect">
            <a:avLst/>
          </a:prstGeom>
        </p:spPr>
      </p:pic>
      <p:sp>
        <p:nvSpPr>
          <p:cNvPr id="6" name="Text 3"/>
          <p:cNvSpPr/>
          <p:nvPr/>
        </p:nvSpPr>
        <p:spPr>
          <a:xfrm>
            <a:off x="4343400" y="868680"/>
            <a:ext cx="4572000" cy="256032"/>
          </a:xfrm>
          <a:prstGeom prst="rect">
            <a:avLst/>
          </a:prstGeom>
          <a:noFill/>
          <a:ln/>
        </p:spPr>
        <p:txBody>
          <a:bodyPr wrap="square" lIns="0" tIns="0" rIns="0" bIns="0" rtlCol="0" anchor="ctr"/>
          <a:lstStyle/>
          <a:p>
            <a:pPr marL="0" indent="0">
              <a:buNone/>
            </a:pPr>
            <a:r>
              <a:rPr lang="en-US" sz="900" b="1" kern="0" spc="200" dirty="0">
                <a:solidFill>
                  <a:srgbClr val="1A7A4A"/>
                </a:solidFill>
                <a:latin typeface="Calibri" pitchFamily="34" charset="0"/>
                <a:ea typeface="Calibri" pitchFamily="34" charset="-122"/>
                <a:cs typeface="Calibri" pitchFamily="34" charset="-120"/>
              </a:rPr>
              <a:t>MODEL B FINDINGS</a:t>
            </a:r>
            <a:endParaRPr lang="en-US" sz="900" dirty="0"/>
          </a:p>
        </p:txBody>
      </p:sp>
      <p:sp>
        <p:nvSpPr>
          <p:cNvPr id="7" name="Shape 4"/>
          <p:cNvSpPr/>
          <p:nvPr/>
        </p:nvSpPr>
        <p:spPr>
          <a:xfrm>
            <a:off x="4343400" y="1170432"/>
            <a:ext cx="4526280" cy="91440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8" name="Shape 5"/>
          <p:cNvSpPr/>
          <p:nvPr/>
        </p:nvSpPr>
        <p:spPr>
          <a:xfrm>
            <a:off x="4343400" y="1170432"/>
            <a:ext cx="91440" cy="914400"/>
          </a:xfrm>
          <a:prstGeom prst="rect">
            <a:avLst/>
          </a:prstGeom>
          <a:solidFill>
            <a:srgbClr val="1A7A4A"/>
          </a:solidFill>
          <a:ln w="12700">
            <a:solidFill>
              <a:srgbClr val="1A7A4A"/>
            </a:solidFill>
            <a:prstDash val="solid"/>
          </a:ln>
        </p:spPr>
        <p:txBody>
          <a:bodyPr/>
          <a:lstStyle/>
          <a:p>
            <a:endParaRPr lang="en-US"/>
          </a:p>
        </p:txBody>
      </p:sp>
      <p:sp>
        <p:nvSpPr>
          <p:cNvPr id="9" name="Text 6"/>
          <p:cNvSpPr/>
          <p:nvPr/>
        </p:nvSpPr>
        <p:spPr>
          <a:xfrm>
            <a:off x="4507992" y="1225296"/>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Putting SG — Significant</a:t>
            </a:r>
            <a:endParaRPr lang="en-US" sz="1200" dirty="0"/>
          </a:p>
        </p:txBody>
      </p:sp>
      <p:sp>
        <p:nvSpPr>
          <p:cNvPr id="10" name="Text 7"/>
          <p:cNvSpPr/>
          <p:nvPr/>
        </p:nvSpPr>
        <p:spPr>
          <a:xfrm>
            <a:off x="4507992" y="1536192"/>
            <a:ext cx="4306824"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puttsSG: coeff −0.710, p=3.3E-63. Each unit improvement in strokes gained putting lowers score average by ~0.71 strokes. Highly significant.</a:t>
            </a:r>
            <a:endParaRPr lang="en-US" sz="1050" dirty="0"/>
          </a:p>
        </p:txBody>
      </p:sp>
      <p:sp>
        <p:nvSpPr>
          <p:cNvPr id="11" name="Shape 8"/>
          <p:cNvSpPr/>
          <p:nvPr/>
        </p:nvSpPr>
        <p:spPr>
          <a:xfrm>
            <a:off x="4343400" y="2176272"/>
            <a:ext cx="4526280" cy="91440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2" name="Shape 9"/>
          <p:cNvSpPr/>
          <p:nvPr/>
        </p:nvSpPr>
        <p:spPr>
          <a:xfrm>
            <a:off x="4343400" y="2176272"/>
            <a:ext cx="91440" cy="914400"/>
          </a:xfrm>
          <a:prstGeom prst="rect">
            <a:avLst/>
          </a:prstGeom>
          <a:solidFill>
            <a:srgbClr val="1565C0"/>
          </a:solidFill>
          <a:ln w="12700">
            <a:solidFill>
              <a:srgbClr val="1565C0"/>
            </a:solidFill>
            <a:prstDash val="solid"/>
          </a:ln>
        </p:spPr>
        <p:txBody>
          <a:bodyPr/>
          <a:lstStyle/>
          <a:p>
            <a:endParaRPr lang="en-US"/>
          </a:p>
        </p:txBody>
      </p:sp>
      <p:sp>
        <p:nvSpPr>
          <p:cNvPr id="13" name="Text 10"/>
          <p:cNvSpPr/>
          <p:nvPr/>
        </p:nvSpPr>
        <p:spPr>
          <a:xfrm>
            <a:off x="4507992" y="2231136"/>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Driving SG — Significant</a:t>
            </a:r>
            <a:endParaRPr lang="en-US" sz="1200" dirty="0"/>
          </a:p>
        </p:txBody>
      </p:sp>
      <p:sp>
        <p:nvSpPr>
          <p:cNvPr id="14" name="Text 11"/>
          <p:cNvSpPr/>
          <p:nvPr/>
        </p:nvSpPr>
        <p:spPr>
          <a:xfrm>
            <a:off x="4507992" y="2542032"/>
            <a:ext cx="4306824"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driveSG: coeff −0.947, p=3.6E-57. Larger coefficient than putting but similar direction — gaining strokes off the tee strongly lowers scores.</a:t>
            </a:r>
            <a:endParaRPr lang="en-US" sz="1050" dirty="0"/>
          </a:p>
        </p:txBody>
      </p:sp>
      <p:sp>
        <p:nvSpPr>
          <p:cNvPr id="15" name="Shape 12"/>
          <p:cNvSpPr/>
          <p:nvPr/>
        </p:nvSpPr>
        <p:spPr>
          <a:xfrm>
            <a:off x="4343400" y="3182112"/>
            <a:ext cx="4526280" cy="91440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6" name="Shape 13"/>
          <p:cNvSpPr/>
          <p:nvPr/>
        </p:nvSpPr>
        <p:spPr>
          <a:xfrm>
            <a:off x="4343400" y="3182112"/>
            <a:ext cx="91440" cy="914400"/>
          </a:xfrm>
          <a:prstGeom prst="rect">
            <a:avLst/>
          </a:prstGeom>
          <a:solidFill>
            <a:srgbClr val="C9A84C"/>
          </a:solidFill>
          <a:ln w="12700">
            <a:solidFill>
              <a:srgbClr val="C9A84C"/>
            </a:solidFill>
            <a:prstDash val="solid"/>
          </a:ln>
        </p:spPr>
        <p:txBody>
          <a:bodyPr/>
          <a:lstStyle/>
          <a:p>
            <a:endParaRPr lang="en-US"/>
          </a:p>
        </p:txBody>
      </p:sp>
      <p:sp>
        <p:nvSpPr>
          <p:cNvPr id="17" name="Text 14"/>
          <p:cNvSpPr/>
          <p:nvPr/>
        </p:nvSpPr>
        <p:spPr>
          <a:xfrm>
            <a:off x="4507992" y="3236976"/>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Model Fit (R² = 0.274)</a:t>
            </a:r>
            <a:endParaRPr lang="en-US" sz="1200" dirty="0"/>
          </a:p>
        </p:txBody>
      </p:sp>
      <p:sp>
        <p:nvSpPr>
          <p:cNvPr id="18" name="Text 15"/>
          <p:cNvSpPr/>
          <p:nvPr/>
        </p:nvSpPr>
        <p:spPr>
          <a:xfrm>
            <a:off x="4507992" y="3547872"/>
            <a:ext cx="4306824"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Model B explains 27.4% of scoring variance — more than Model A. Strokes gained metrics capture performance quality more precisely than raw stats.</a:t>
            </a:r>
            <a:endParaRPr lang="en-US" sz="1050" dirty="0"/>
          </a:p>
        </p:txBody>
      </p:sp>
      <p:sp>
        <p:nvSpPr>
          <p:cNvPr id="19" name="Shape 16"/>
          <p:cNvSpPr/>
          <p:nvPr/>
        </p:nvSpPr>
        <p:spPr>
          <a:xfrm>
            <a:off x="4343400" y="4187952"/>
            <a:ext cx="4526280" cy="56692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20" name="Shape 17"/>
          <p:cNvSpPr/>
          <p:nvPr/>
        </p:nvSpPr>
        <p:spPr>
          <a:xfrm>
            <a:off x="4343400" y="4187952"/>
            <a:ext cx="91440" cy="566928"/>
          </a:xfrm>
          <a:prstGeom prst="rect">
            <a:avLst/>
          </a:prstGeom>
          <a:solidFill>
            <a:srgbClr val="1B2E45"/>
          </a:solidFill>
          <a:ln w="12700">
            <a:solidFill>
              <a:srgbClr val="1B2E45"/>
            </a:solidFill>
            <a:prstDash val="solid"/>
          </a:ln>
        </p:spPr>
        <p:txBody>
          <a:bodyPr/>
          <a:lstStyle/>
          <a:p>
            <a:endParaRPr lang="en-US"/>
          </a:p>
        </p:txBody>
      </p:sp>
      <p:sp>
        <p:nvSpPr>
          <p:cNvPr id="21" name="Text 18"/>
          <p:cNvSpPr/>
          <p:nvPr/>
        </p:nvSpPr>
        <p:spPr>
          <a:xfrm>
            <a:off x="4507992" y="4242816"/>
            <a:ext cx="43068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Overall Conclusion</a:t>
            </a:r>
            <a:endParaRPr lang="en-US" sz="1200" dirty="0"/>
          </a:p>
        </p:txBody>
      </p:sp>
      <p:sp>
        <p:nvSpPr>
          <p:cNvPr id="22" name="Text 19"/>
          <p:cNvSpPr/>
          <p:nvPr/>
        </p:nvSpPr>
        <p:spPr>
          <a:xfrm>
            <a:off x="4507992" y="4553712"/>
            <a:ext cx="4306824" cy="10972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Both SG metrics are significant. Putting SG has a slightly smaller raw coefficient but both are equally critical to scoring.</a:t>
            </a:r>
            <a:endParaRPr lang="en-US" sz="1050" dirty="0"/>
          </a:p>
        </p:txBody>
      </p:sp>
      <p:sp>
        <p:nvSpPr>
          <p:cNvPr id="23" name="Text 20"/>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Q2 — Summary: What the Regression Tells Us</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1A7A4A"/>
                </a:solidFill>
                <a:latin typeface="Georgia" pitchFamily="34" charset="0"/>
                <a:ea typeface="Georgia" pitchFamily="34" charset="-122"/>
                <a:cs typeface="Georgia" pitchFamily="34" charset="-120"/>
              </a:rPr>
              <a:t>Q2</a:t>
            </a:r>
            <a:endParaRPr lang="en-US" sz="2000" dirty="0"/>
          </a:p>
        </p:txBody>
      </p:sp>
      <p:sp>
        <p:nvSpPr>
          <p:cNvPr id="5" name="Text 3"/>
          <p:cNvSpPr/>
          <p:nvPr/>
        </p:nvSpPr>
        <p:spPr>
          <a:xfrm>
            <a:off x="365760" y="841248"/>
            <a:ext cx="4114800" cy="237744"/>
          </a:xfrm>
          <a:prstGeom prst="rect">
            <a:avLst/>
          </a:prstGeom>
          <a:noFill/>
          <a:ln/>
        </p:spPr>
        <p:txBody>
          <a:bodyPr wrap="square" lIns="0" tIns="0" rIns="0" bIns="0" rtlCol="0" anchor="ctr"/>
          <a:lstStyle/>
          <a:p>
            <a:pPr marL="0" indent="0">
              <a:buNone/>
            </a:pPr>
            <a:r>
              <a:rPr lang="en-US" sz="900" b="1" kern="0" spc="200" dirty="0">
                <a:solidFill>
                  <a:srgbClr val="1A7A4A"/>
                </a:solidFill>
                <a:latin typeface="Calibri" pitchFamily="34" charset="0"/>
                <a:ea typeface="Calibri" pitchFamily="34" charset="-122"/>
                <a:cs typeface="Calibri" pitchFamily="34" charset="-120"/>
              </a:rPr>
              <a:t>VARIABLE IMPACT RANKING</a:t>
            </a:r>
            <a:endParaRPr lang="en-US" sz="900" dirty="0"/>
          </a:p>
        </p:txBody>
      </p:sp>
      <p:sp>
        <p:nvSpPr>
          <p:cNvPr id="6" name="Shape 4"/>
          <p:cNvSpPr/>
          <p:nvPr/>
        </p:nvSpPr>
        <p:spPr>
          <a:xfrm>
            <a:off x="365760" y="1115568"/>
            <a:ext cx="4114800" cy="77724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7" name="Shape 5"/>
          <p:cNvSpPr/>
          <p:nvPr/>
        </p:nvSpPr>
        <p:spPr>
          <a:xfrm>
            <a:off x="365760" y="1115568"/>
            <a:ext cx="457200" cy="777240"/>
          </a:xfrm>
          <a:prstGeom prst="rect">
            <a:avLst/>
          </a:prstGeom>
          <a:solidFill>
            <a:srgbClr val="1A7A4A"/>
          </a:solidFill>
          <a:ln w="12700">
            <a:solidFill>
              <a:srgbClr val="1A7A4A"/>
            </a:solidFill>
            <a:prstDash val="solid"/>
          </a:ln>
        </p:spPr>
        <p:txBody>
          <a:bodyPr/>
          <a:lstStyle/>
          <a:p>
            <a:endParaRPr lang="en-US"/>
          </a:p>
        </p:txBody>
      </p:sp>
      <p:sp>
        <p:nvSpPr>
          <p:cNvPr id="8" name="Text 6"/>
          <p:cNvSpPr/>
          <p:nvPr/>
        </p:nvSpPr>
        <p:spPr>
          <a:xfrm>
            <a:off x="365760" y="1115568"/>
            <a:ext cx="45720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914400" y="1170432"/>
            <a:ext cx="34290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Putting</a:t>
            </a:r>
            <a:endParaRPr lang="en-US" sz="1300" dirty="0"/>
          </a:p>
        </p:txBody>
      </p:sp>
      <p:sp>
        <p:nvSpPr>
          <p:cNvPr id="10" name="Text 8"/>
          <p:cNvSpPr/>
          <p:nvPr/>
        </p:nvSpPr>
        <p:spPr>
          <a:xfrm>
            <a:off x="914400" y="1517904"/>
            <a:ext cx="34290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Strongest → biggest impact on score average</a:t>
            </a:r>
            <a:endParaRPr lang="en-US" sz="1000" dirty="0"/>
          </a:p>
        </p:txBody>
      </p:sp>
      <p:sp>
        <p:nvSpPr>
          <p:cNvPr id="11" name="Shape 9"/>
          <p:cNvSpPr/>
          <p:nvPr/>
        </p:nvSpPr>
        <p:spPr>
          <a:xfrm>
            <a:off x="365760" y="2011680"/>
            <a:ext cx="4114800" cy="77724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2" name="Shape 10"/>
          <p:cNvSpPr/>
          <p:nvPr/>
        </p:nvSpPr>
        <p:spPr>
          <a:xfrm>
            <a:off x="365760" y="2011680"/>
            <a:ext cx="457200" cy="777240"/>
          </a:xfrm>
          <a:prstGeom prst="rect">
            <a:avLst/>
          </a:prstGeom>
          <a:solidFill>
            <a:srgbClr val="1565C0"/>
          </a:solidFill>
          <a:ln w="12700">
            <a:solidFill>
              <a:srgbClr val="1565C0"/>
            </a:solidFill>
            <a:prstDash val="solid"/>
          </a:ln>
        </p:spPr>
        <p:txBody>
          <a:bodyPr/>
          <a:lstStyle/>
          <a:p>
            <a:endParaRPr lang="en-US"/>
          </a:p>
        </p:txBody>
      </p:sp>
      <p:sp>
        <p:nvSpPr>
          <p:cNvPr id="13" name="Text 11"/>
          <p:cNvSpPr/>
          <p:nvPr/>
        </p:nvSpPr>
        <p:spPr>
          <a:xfrm>
            <a:off x="365760" y="2011680"/>
            <a:ext cx="45720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4" name="Text 12"/>
          <p:cNvSpPr/>
          <p:nvPr/>
        </p:nvSpPr>
        <p:spPr>
          <a:xfrm>
            <a:off x="914400" y="2066544"/>
            <a:ext cx="34290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Drive Accuracy</a:t>
            </a:r>
            <a:endParaRPr lang="en-US" sz="1300" dirty="0"/>
          </a:p>
        </p:txBody>
      </p:sp>
      <p:sp>
        <p:nvSpPr>
          <p:cNvPr id="15" name="Text 13"/>
          <p:cNvSpPr/>
          <p:nvPr/>
        </p:nvSpPr>
        <p:spPr>
          <a:xfrm>
            <a:off x="914400" y="2414016"/>
            <a:ext cx="34290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Important → more accurate = better scores</a:t>
            </a:r>
            <a:endParaRPr lang="en-US" sz="1000" dirty="0"/>
          </a:p>
        </p:txBody>
      </p:sp>
      <p:sp>
        <p:nvSpPr>
          <p:cNvPr id="16" name="Shape 14"/>
          <p:cNvSpPr/>
          <p:nvPr/>
        </p:nvSpPr>
        <p:spPr>
          <a:xfrm>
            <a:off x="365760" y="2907792"/>
            <a:ext cx="4114800" cy="77724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7" name="Shape 15"/>
          <p:cNvSpPr/>
          <p:nvPr/>
        </p:nvSpPr>
        <p:spPr>
          <a:xfrm>
            <a:off x="365760" y="2907792"/>
            <a:ext cx="457200" cy="777240"/>
          </a:xfrm>
          <a:prstGeom prst="rect">
            <a:avLst/>
          </a:prstGeom>
          <a:solidFill>
            <a:srgbClr val="E67E22"/>
          </a:solidFill>
          <a:ln w="12700">
            <a:solidFill>
              <a:srgbClr val="E67E22"/>
            </a:solidFill>
            <a:prstDash val="solid"/>
          </a:ln>
        </p:spPr>
        <p:txBody>
          <a:bodyPr/>
          <a:lstStyle/>
          <a:p>
            <a:endParaRPr lang="en-US"/>
          </a:p>
        </p:txBody>
      </p:sp>
      <p:sp>
        <p:nvSpPr>
          <p:cNvPr id="18" name="Text 16"/>
          <p:cNvSpPr/>
          <p:nvPr/>
        </p:nvSpPr>
        <p:spPr>
          <a:xfrm>
            <a:off x="365760" y="2907792"/>
            <a:ext cx="45720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Text 17"/>
          <p:cNvSpPr/>
          <p:nvPr/>
        </p:nvSpPr>
        <p:spPr>
          <a:xfrm>
            <a:off x="914400" y="2962656"/>
            <a:ext cx="34290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Drive Distance</a:t>
            </a:r>
            <a:endParaRPr lang="en-US" sz="1300" dirty="0"/>
          </a:p>
        </p:txBody>
      </p:sp>
      <p:sp>
        <p:nvSpPr>
          <p:cNvPr id="20" name="Text 18"/>
          <p:cNvSpPr/>
          <p:nvPr/>
        </p:nvSpPr>
        <p:spPr>
          <a:xfrm>
            <a:off x="914400" y="3310128"/>
            <a:ext cx="34290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Moderate → helps, but smaller effect</a:t>
            </a:r>
            <a:endParaRPr lang="en-US" sz="1000" dirty="0"/>
          </a:p>
        </p:txBody>
      </p:sp>
      <p:sp>
        <p:nvSpPr>
          <p:cNvPr id="21" name="Shape 19"/>
          <p:cNvSpPr/>
          <p:nvPr/>
        </p:nvSpPr>
        <p:spPr>
          <a:xfrm>
            <a:off x="365760" y="3803904"/>
            <a:ext cx="4114800" cy="77724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22" name="Shape 20"/>
          <p:cNvSpPr/>
          <p:nvPr/>
        </p:nvSpPr>
        <p:spPr>
          <a:xfrm>
            <a:off x="365760" y="3803904"/>
            <a:ext cx="457200" cy="777240"/>
          </a:xfrm>
          <a:prstGeom prst="rect">
            <a:avLst/>
          </a:prstGeom>
          <a:solidFill>
            <a:srgbClr val="64748B"/>
          </a:solidFill>
          <a:ln w="12700">
            <a:solidFill>
              <a:srgbClr val="64748B"/>
            </a:solidFill>
            <a:prstDash val="solid"/>
          </a:ln>
        </p:spPr>
        <p:txBody>
          <a:bodyPr/>
          <a:lstStyle/>
          <a:p>
            <a:endParaRPr lang="en-US"/>
          </a:p>
        </p:txBody>
      </p:sp>
      <p:sp>
        <p:nvSpPr>
          <p:cNvPr id="23" name="Text 21"/>
          <p:cNvSpPr/>
          <p:nvPr/>
        </p:nvSpPr>
        <p:spPr>
          <a:xfrm>
            <a:off x="365760" y="3803904"/>
            <a:ext cx="45720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4" name="Text 22"/>
          <p:cNvSpPr/>
          <p:nvPr/>
        </p:nvSpPr>
        <p:spPr>
          <a:xfrm>
            <a:off x="914400" y="3858768"/>
            <a:ext cx="34290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One-Putt %</a:t>
            </a:r>
            <a:endParaRPr lang="en-US" sz="1300" dirty="0"/>
          </a:p>
        </p:txBody>
      </p:sp>
      <p:sp>
        <p:nvSpPr>
          <p:cNvPr id="25" name="Text 23"/>
          <p:cNvSpPr/>
          <p:nvPr/>
        </p:nvSpPr>
        <p:spPr>
          <a:xfrm>
            <a:off x="914400" y="4206240"/>
            <a:ext cx="34290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Not Significant → not reliable predictor</a:t>
            </a:r>
            <a:endParaRPr lang="en-US" sz="1000" dirty="0"/>
          </a:p>
        </p:txBody>
      </p:sp>
      <p:sp>
        <p:nvSpPr>
          <p:cNvPr id="26" name="Text 24"/>
          <p:cNvSpPr/>
          <p:nvPr/>
        </p:nvSpPr>
        <p:spPr>
          <a:xfrm>
            <a:off x="4663440" y="841248"/>
            <a:ext cx="4160520" cy="237744"/>
          </a:xfrm>
          <a:prstGeom prst="rect">
            <a:avLst/>
          </a:prstGeom>
          <a:noFill/>
          <a:ln/>
        </p:spPr>
        <p:txBody>
          <a:bodyPr wrap="square" lIns="0" tIns="0" rIns="0" bIns="0" rtlCol="0" anchor="ctr"/>
          <a:lstStyle/>
          <a:p>
            <a:pPr marL="0" indent="0">
              <a:buNone/>
            </a:pPr>
            <a:r>
              <a:rPr lang="en-US" sz="900" b="1" kern="0" spc="200" dirty="0">
                <a:solidFill>
                  <a:srgbClr val="1A7A4A"/>
                </a:solidFill>
                <a:latin typeface="Calibri" pitchFamily="34" charset="0"/>
                <a:ea typeface="Calibri" pitchFamily="34" charset="-122"/>
                <a:cs typeface="Calibri" pitchFamily="34" charset="-120"/>
              </a:rPr>
              <a:t>FULL ANALYSIS</a:t>
            </a:r>
            <a:endParaRPr lang="en-US" sz="900" dirty="0"/>
          </a:p>
        </p:txBody>
      </p:sp>
      <p:sp>
        <p:nvSpPr>
          <p:cNvPr id="27" name="Shape 25"/>
          <p:cNvSpPr/>
          <p:nvPr/>
        </p:nvSpPr>
        <p:spPr>
          <a:xfrm>
            <a:off x="4663440" y="1115568"/>
            <a:ext cx="4160520" cy="3657600"/>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28" name="Shape 26"/>
          <p:cNvSpPr/>
          <p:nvPr/>
        </p:nvSpPr>
        <p:spPr>
          <a:xfrm>
            <a:off x="4663440" y="1115568"/>
            <a:ext cx="91440" cy="3657600"/>
          </a:xfrm>
          <a:prstGeom prst="rect">
            <a:avLst/>
          </a:prstGeom>
          <a:solidFill>
            <a:srgbClr val="1A7A4A"/>
          </a:solidFill>
          <a:ln w="12700">
            <a:solidFill>
              <a:srgbClr val="1A7A4A"/>
            </a:solidFill>
            <a:prstDash val="solid"/>
          </a:ln>
        </p:spPr>
        <p:txBody>
          <a:bodyPr/>
          <a:lstStyle/>
          <a:p>
            <a:endParaRPr lang="en-US"/>
          </a:p>
        </p:txBody>
      </p:sp>
      <p:sp>
        <p:nvSpPr>
          <p:cNvPr id="29" name="Text 27"/>
          <p:cNvSpPr/>
          <p:nvPr/>
        </p:nvSpPr>
        <p:spPr>
          <a:xfrm>
            <a:off x="4828032" y="1188720"/>
            <a:ext cx="3931920" cy="3520440"/>
          </a:xfrm>
          <a:prstGeom prst="rect">
            <a:avLst/>
          </a:prstGeom>
          <a:noFill/>
          <a:ln/>
        </p:spPr>
        <p:txBody>
          <a:bodyPr wrap="square" lIns="0" tIns="0" rIns="0" bIns="0" rtlCol="0" anchor="t"/>
          <a:lstStyle/>
          <a:p>
            <a:pPr marL="0" indent="0">
              <a:buNone/>
            </a:pPr>
            <a:r>
              <a:rPr lang="en-US" sz="1050" dirty="0">
                <a:solidFill>
                  <a:srgbClr val="0D1B2A"/>
                </a:solidFill>
                <a:latin typeface="Calibri" pitchFamily="34" charset="0"/>
                <a:ea typeface="Calibri" pitchFamily="34" charset="-122"/>
                <a:cs typeface="Calibri" pitchFamily="34" charset="-120"/>
              </a:rPr>
              <a:t>Using the full regression model (Model A), putting has the strongest impact on scoring, as it has the largest coefficient (0.205) and is statistically significant. This indicates that an increase in putts per round leads to a meaningful increase in scoring average.</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Driving accuracy is the next most important factor, with a negative coefficient (−0.045), showing that higher accuracy is associated with better (lower) scores.</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Driving distance also has a statistically significant negative effect (−0.029), but its impact is smaller than accuracy.</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One-putt percentage was not statistically significant (p ≈ 0.06), suggesting it does not meaningfully influence scoring when other variables are considered.</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The model explains approximately 11.9% of the variation in scoring (R² = 0.1186), indicating that additional factors beyond these metrics also contribute to performance.</a:t>
            </a:r>
            <a:endParaRPr lang="en-US" sz="1050" dirty="0"/>
          </a:p>
        </p:txBody>
      </p:sp>
      <p:sp>
        <p:nvSpPr>
          <p:cNvPr id="30" name="Text 28"/>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1737360"/>
            <a:ext cx="9144000" cy="1645920"/>
          </a:xfrm>
          <a:prstGeom prst="rect">
            <a:avLst/>
          </a:prstGeom>
          <a:solidFill>
            <a:srgbClr val="1B2E45"/>
          </a:solidFill>
          <a:ln w="12700">
            <a:solidFill>
              <a:srgbClr val="1B2E45"/>
            </a:solidFill>
            <a:prstDash val="solid"/>
          </a:ln>
        </p:spPr>
        <p:txBody>
          <a:bodyPr/>
          <a:lstStyle/>
          <a:p>
            <a:endParaRPr lang="en-US"/>
          </a:p>
        </p:txBody>
      </p:sp>
      <p:sp>
        <p:nvSpPr>
          <p:cNvPr id="4" name="Text 2"/>
          <p:cNvSpPr/>
          <p:nvPr/>
        </p:nvSpPr>
        <p:spPr>
          <a:xfrm>
            <a:off x="457200" y="1005840"/>
            <a:ext cx="8229600" cy="365760"/>
          </a:xfrm>
          <a:prstGeom prst="rect">
            <a:avLst/>
          </a:prstGeom>
          <a:noFill/>
          <a:ln/>
        </p:spPr>
        <p:txBody>
          <a:bodyPr wrap="square" lIns="0" tIns="0" rIns="0" bIns="0" rtlCol="0" anchor="ctr"/>
          <a:lstStyle/>
          <a:p>
            <a:pPr marL="0" indent="0">
              <a:buNone/>
            </a:pPr>
            <a:r>
              <a:rPr lang="en-US" sz="1300" b="1" kern="0" spc="300" dirty="0">
                <a:solidFill>
                  <a:srgbClr val="E74C3C"/>
                </a:solidFill>
                <a:latin typeface="Calibri" pitchFamily="34" charset="0"/>
                <a:ea typeface="Calibri" pitchFamily="34" charset="-122"/>
                <a:cs typeface="Calibri" pitchFamily="34" charset="-120"/>
              </a:rPr>
              <a:t>RESEARCH QUESTION 3</a:t>
            </a:r>
            <a:endParaRPr lang="en-US" sz="1300" dirty="0"/>
          </a:p>
        </p:txBody>
      </p:sp>
      <p:sp>
        <p:nvSpPr>
          <p:cNvPr id="5" name="Text 3"/>
          <p:cNvSpPr/>
          <p:nvPr/>
        </p:nvSpPr>
        <p:spPr>
          <a:xfrm>
            <a:off x="457200" y="1417320"/>
            <a:ext cx="8229600" cy="5943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Do Top Earners Share</a:t>
            </a:r>
            <a:endParaRPr lang="en-US" sz="3600" dirty="0"/>
          </a:p>
        </p:txBody>
      </p:sp>
      <p:sp>
        <p:nvSpPr>
          <p:cNvPr id="6" name="Text 4"/>
          <p:cNvSpPr/>
          <p:nvPr/>
        </p:nvSpPr>
        <p:spPr>
          <a:xfrm>
            <a:off x="457200" y="2011680"/>
            <a:ext cx="8229600" cy="640080"/>
          </a:xfrm>
          <a:prstGeom prst="rect">
            <a:avLst/>
          </a:prstGeom>
          <a:noFill/>
          <a:ln/>
        </p:spPr>
        <p:txBody>
          <a:bodyPr wrap="square" lIns="0" tIns="0" rIns="0" bIns="0" rtlCol="0" anchor="ctr"/>
          <a:lstStyle/>
          <a:p>
            <a:pPr marL="0" indent="0">
              <a:buNone/>
            </a:pPr>
            <a:r>
              <a:rPr lang="en-US" sz="2800" dirty="0">
                <a:solidFill>
                  <a:srgbClr val="F1948A"/>
                </a:solidFill>
                <a:latin typeface="Georgia" pitchFamily="34" charset="0"/>
                <a:ea typeface="Georgia" pitchFamily="34" charset="-122"/>
                <a:cs typeface="Georgia" pitchFamily="34" charset="-120"/>
              </a:rPr>
              <a:t>Similar Performance Profiles?</a:t>
            </a:r>
            <a:endParaRPr lang="en-US" sz="2800" dirty="0"/>
          </a:p>
        </p:txBody>
      </p:sp>
      <p:sp>
        <p:nvSpPr>
          <p:cNvPr id="7" name="Text 5"/>
          <p:cNvSpPr/>
          <p:nvPr/>
        </p:nvSpPr>
        <p:spPr>
          <a:xfrm>
            <a:off x="457200" y="2926080"/>
            <a:ext cx="822960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Justin Thomas · Scottie Scheffler · Will Zalatoris — top-3 earning players compared across key metrics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Q3 — Top Earners: Multi-Metric Comparison</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C0392B"/>
                </a:solidFill>
                <a:latin typeface="Georgia" pitchFamily="34" charset="0"/>
                <a:ea typeface="Georgia" pitchFamily="34" charset="-122"/>
                <a:cs typeface="Georgia" pitchFamily="34" charset="-120"/>
              </a:rPr>
              <a:t>Q3</a:t>
            </a:r>
            <a:endParaRPr lang="en-US" sz="2000" dirty="0"/>
          </a:p>
        </p:txBody>
      </p:sp>
      <p:pic>
        <p:nvPicPr>
          <p:cNvPr id="5" name="Image 0" descr="preencoded.png"/>
          <p:cNvPicPr>
            <a:picLocks noChangeAspect="1"/>
          </p:cNvPicPr>
          <p:nvPr/>
        </p:nvPicPr>
        <p:blipFill>
          <a:blip r:embed="rId3"/>
          <a:srcRect/>
          <a:stretch/>
        </p:blipFill>
        <p:spPr>
          <a:xfrm>
            <a:off x="320040" y="868680"/>
            <a:ext cx="8503920" cy="3291840"/>
          </a:xfrm>
          <a:prstGeom prst="rect">
            <a:avLst/>
          </a:prstGeom>
        </p:spPr>
      </p:pic>
      <p:sp>
        <p:nvSpPr>
          <p:cNvPr id="6" name="Shape 3"/>
          <p:cNvSpPr/>
          <p:nvPr/>
        </p:nvSpPr>
        <p:spPr>
          <a:xfrm>
            <a:off x="320040" y="4251960"/>
            <a:ext cx="2788920" cy="713232"/>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7" name="Shape 4"/>
          <p:cNvSpPr/>
          <p:nvPr/>
        </p:nvSpPr>
        <p:spPr>
          <a:xfrm>
            <a:off x="320040" y="4251960"/>
            <a:ext cx="73152" cy="713232"/>
          </a:xfrm>
          <a:prstGeom prst="rect">
            <a:avLst/>
          </a:prstGeom>
          <a:solidFill>
            <a:srgbClr val="1A7A4A"/>
          </a:solidFill>
          <a:ln w="12700">
            <a:solidFill>
              <a:srgbClr val="1A7A4A"/>
            </a:solidFill>
            <a:prstDash val="solid"/>
          </a:ln>
        </p:spPr>
        <p:txBody>
          <a:bodyPr/>
          <a:lstStyle/>
          <a:p>
            <a:endParaRPr lang="en-US"/>
          </a:p>
        </p:txBody>
      </p:sp>
      <p:sp>
        <p:nvSpPr>
          <p:cNvPr id="8" name="Text 5"/>
          <p:cNvSpPr/>
          <p:nvPr/>
        </p:nvSpPr>
        <p:spPr>
          <a:xfrm>
            <a:off x="466344" y="4279392"/>
            <a:ext cx="256032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Putts / Round</a:t>
            </a:r>
            <a:endParaRPr lang="en-US" sz="1100" dirty="0"/>
          </a:p>
        </p:txBody>
      </p:sp>
      <p:sp>
        <p:nvSpPr>
          <p:cNvPr id="9" name="Text 6"/>
          <p:cNvSpPr/>
          <p:nvPr/>
        </p:nvSpPr>
        <p:spPr>
          <a:xfrm>
            <a:off x="466344" y="4535424"/>
            <a:ext cx="256032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All 3 cluster tightly ~28–28.5. Nearly identical putting volume.</a:t>
            </a:r>
            <a:endParaRPr lang="en-US" sz="950" dirty="0"/>
          </a:p>
        </p:txBody>
      </p:sp>
      <p:sp>
        <p:nvSpPr>
          <p:cNvPr id="10" name="Shape 7"/>
          <p:cNvSpPr/>
          <p:nvPr/>
        </p:nvSpPr>
        <p:spPr>
          <a:xfrm>
            <a:off x="3246120" y="4251960"/>
            <a:ext cx="2788920" cy="713232"/>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1" name="Shape 8"/>
          <p:cNvSpPr/>
          <p:nvPr/>
        </p:nvSpPr>
        <p:spPr>
          <a:xfrm>
            <a:off x="3246120" y="4251960"/>
            <a:ext cx="73152" cy="713232"/>
          </a:xfrm>
          <a:prstGeom prst="rect">
            <a:avLst/>
          </a:prstGeom>
          <a:solidFill>
            <a:srgbClr val="1565C0"/>
          </a:solidFill>
          <a:ln w="12700">
            <a:solidFill>
              <a:srgbClr val="1565C0"/>
            </a:solidFill>
            <a:prstDash val="solid"/>
          </a:ln>
        </p:spPr>
        <p:txBody>
          <a:bodyPr/>
          <a:lstStyle/>
          <a:p>
            <a:endParaRPr lang="en-US"/>
          </a:p>
        </p:txBody>
      </p:sp>
      <p:sp>
        <p:nvSpPr>
          <p:cNvPr id="12" name="Text 9"/>
          <p:cNvSpPr/>
          <p:nvPr/>
        </p:nvSpPr>
        <p:spPr>
          <a:xfrm>
            <a:off x="3392424" y="4279392"/>
            <a:ext cx="256032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Drive Distance</a:t>
            </a:r>
            <a:endParaRPr lang="en-US" sz="1100" dirty="0"/>
          </a:p>
        </p:txBody>
      </p:sp>
      <p:sp>
        <p:nvSpPr>
          <p:cNvPr id="13" name="Text 10"/>
          <p:cNvSpPr/>
          <p:nvPr/>
        </p:nvSpPr>
        <p:spPr>
          <a:xfrm>
            <a:off x="3392424" y="4535424"/>
            <a:ext cx="256032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Clustered near 310 yds. No significant separation between top earners.</a:t>
            </a:r>
            <a:endParaRPr lang="en-US" sz="950" dirty="0"/>
          </a:p>
        </p:txBody>
      </p:sp>
      <p:sp>
        <p:nvSpPr>
          <p:cNvPr id="14" name="Shape 11"/>
          <p:cNvSpPr/>
          <p:nvPr/>
        </p:nvSpPr>
        <p:spPr>
          <a:xfrm>
            <a:off x="6172200" y="4251960"/>
            <a:ext cx="2788920" cy="713232"/>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5" name="Shape 12"/>
          <p:cNvSpPr/>
          <p:nvPr/>
        </p:nvSpPr>
        <p:spPr>
          <a:xfrm>
            <a:off x="6172200" y="4251960"/>
            <a:ext cx="73152" cy="713232"/>
          </a:xfrm>
          <a:prstGeom prst="rect">
            <a:avLst/>
          </a:prstGeom>
          <a:solidFill>
            <a:srgbClr val="E67E22"/>
          </a:solidFill>
          <a:ln w="12700">
            <a:solidFill>
              <a:srgbClr val="E67E22"/>
            </a:solidFill>
            <a:prstDash val="solid"/>
          </a:ln>
        </p:spPr>
        <p:txBody>
          <a:bodyPr/>
          <a:lstStyle/>
          <a:p>
            <a:endParaRPr lang="en-US"/>
          </a:p>
        </p:txBody>
      </p:sp>
      <p:sp>
        <p:nvSpPr>
          <p:cNvPr id="16" name="Text 13"/>
          <p:cNvSpPr/>
          <p:nvPr/>
        </p:nvSpPr>
        <p:spPr>
          <a:xfrm>
            <a:off x="6318504" y="4279392"/>
            <a:ext cx="256032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One-Putt %</a:t>
            </a:r>
            <a:endParaRPr lang="en-US" sz="1100" dirty="0"/>
          </a:p>
        </p:txBody>
      </p:sp>
      <p:sp>
        <p:nvSpPr>
          <p:cNvPr id="17" name="Text 14"/>
          <p:cNvSpPr/>
          <p:nvPr/>
        </p:nvSpPr>
        <p:spPr>
          <a:xfrm>
            <a:off x="6318504" y="4535424"/>
            <a:ext cx="2560320" cy="3657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Grouped around 40%. Again tightly clustered — shared trait.</a:t>
            </a:r>
            <a:endParaRPr lang="en-US" sz="950" dirty="0"/>
          </a:p>
        </p:txBody>
      </p:sp>
      <p:sp>
        <p:nvSpPr>
          <p:cNvPr id="18" name="Text 15"/>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Q3 — Drive Distance &amp; One-Putt % Detail View</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C0392B"/>
                </a:solidFill>
                <a:latin typeface="Georgia" pitchFamily="34" charset="0"/>
                <a:ea typeface="Georgia" pitchFamily="34" charset="-122"/>
                <a:cs typeface="Georgia" pitchFamily="34" charset="-120"/>
              </a:rPr>
              <a:t>Q3</a:t>
            </a:r>
            <a:endParaRPr lang="en-US" sz="2000" dirty="0"/>
          </a:p>
        </p:txBody>
      </p:sp>
      <p:pic>
        <p:nvPicPr>
          <p:cNvPr id="5" name="Image 0" descr="preencoded.png"/>
          <p:cNvPicPr>
            <a:picLocks noChangeAspect="1"/>
          </p:cNvPicPr>
          <p:nvPr/>
        </p:nvPicPr>
        <p:blipFill>
          <a:blip r:embed="rId3"/>
          <a:srcRect/>
          <a:stretch/>
        </p:blipFill>
        <p:spPr>
          <a:xfrm>
            <a:off x="365760" y="841248"/>
            <a:ext cx="4114800" cy="3840480"/>
          </a:xfrm>
          <a:prstGeom prst="rect">
            <a:avLst/>
          </a:prstGeom>
        </p:spPr>
      </p:pic>
      <p:pic>
        <p:nvPicPr>
          <p:cNvPr id="6" name="Image 1" descr="preencoded.png"/>
          <p:cNvPicPr>
            <a:picLocks noChangeAspect="1"/>
          </p:cNvPicPr>
          <p:nvPr/>
        </p:nvPicPr>
        <p:blipFill>
          <a:blip r:embed="rId4"/>
          <a:srcRect/>
          <a:stretch/>
        </p:blipFill>
        <p:spPr>
          <a:xfrm>
            <a:off x="4709160" y="841248"/>
            <a:ext cx="4114800" cy="3840480"/>
          </a:xfrm>
          <a:prstGeom prst="rect">
            <a:avLst/>
          </a:prstGeom>
        </p:spPr>
      </p:pic>
      <p:sp>
        <p:nvSpPr>
          <p:cNvPr id="7" name="Shape 3"/>
          <p:cNvSpPr/>
          <p:nvPr/>
        </p:nvSpPr>
        <p:spPr>
          <a:xfrm>
            <a:off x="4526280" y="1005840"/>
            <a:ext cx="54864" cy="3474720"/>
          </a:xfrm>
          <a:prstGeom prst="rect">
            <a:avLst/>
          </a:prstGeom>
          <a:solidFill>
            <a:srgbClr val="E2E8F0"/>
          </a:solidFill>
          <a:ln w="12700">
            <a:solidFill>
              <a:srgbClr val="E2E8F0"/>
            </a:solidFill>
            <a:prstDash val="solid"/>
          </a:ln>
        </p:spPr>
        <p:txBody>
          <a:bodyPr/>
          <a:lstStyle/>
          <a:p>
            <a:endParaRPr lang="en-US"/>
          </a:p>
        </p:txBody>
      </p:sp>
      <p:sp>
        <p:nvSpPr>
          <p:cNvPr id="8" name="Text 4"/>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0"/>
            <a:ext cx="7315200" cy="713232"/>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Q3 — Do Top Earners Share a Performance Profile?</a:t>
            </a:r>
            <a:endParaRPr lang="en-US" sz="2000" dirty="0"/>
          </a:p>
        </p:txBody>
      </p:sp>
      <p:sp>
        <p:nvSpPr>
          <p:cNvPr id="4" name="Text 2"/>
          <p:cNvSpPr/>
          <p:nvPr/>
        </p:nvSpPr>
        <p:spPr>
          <a:xfrm>
            <a:off x="8046720" y="0"/>
            <a:ext cx="914400" cy="713232"/>
          </a:xfrm>
          <a:prstGeom prst="rect">
            <a:avLst/>
          </a:prstGeom>
          <a:noFill/>
          <a:ln/>
        </p:spPr>
        <p:txBody>
          <a:bodyPr wrap="square" lIns="0" tIns="0" rIns="0" bIns="0" rtlCol="0" anchor="ctr"/>
          <a:lstStyle/>
          <a:p>
            <a:pPr marL="0" indent="0" algn="ctr">
              <a:buNone/>
            </a:pPr>
            <a:r>
              <a:rPr lang="en-US" sz="2000" b="1" dirty="0">
                <a:solidFill>
                  <a:srgbClr val="C0392B"/>
                </a:solidFill>
                <a:latin typeface="Georgia" pitchFamily="34" charset="0"/>
                <a:ea typeface="Georgia" pitchFamily="34" charset="-122"/>
                <a:cs typeface="Georgia" pitchFamily="34" charset="-120"/>
              </a:rPr>
              <a:t>Q3</a:t>
            </a:r>
            <a:endParaRPr lang="en-US" sz="2000" dirty="0"/>
          </a:p>
        </p:txBody>
      </p:sp>
      <p:sp>
        <p:nvSpPr>
          <p:cNvPr id="5" name="Shape 3"/>
          <p:cNvSpPr/>
          <p:nvPr/>
        </p:nvSpPr>
        <p:spPr>
          <a:xfrm>
            <a:off x="365760" y="868680"/>
            <a:ext cx="8412480" cy="658368"/>
          </a:xfrm>
          <a:prstGeom prst="rect">
            <a:avLst/>
          </a:prstGeom>
          <a:solidFill>
            <a:srgbClr val="0D1B2A"/>
          </a:solidFill>
          <a:ln w="12700">
            <a:solidFill>
              <a:srgbClr val="0D1B2A"/>
            </a:solidFill>
            <a:prstDash val="solid"/>
          </a:ln>
          <a:effectLst>
            <a:outerShdw blurRad="50800" dist="25400" dir="8100000" algn="bl" rotWithShape="0">
              <a:srgbClr val="000000">
                <a:alpha val="9000"/>
              </a:srgbClr>
            </a:outerShdw>
          </a:effectLst>
        </p:spPr>
        <p:txBody>
          <a:bodyPr/>
          <a:lstStyle/>
          <a:p>
            <a:endParaRPr lang="en-US"/>
          </a:p>
        </p:txBody>
      </p:sp>
      <p:sp>
        <p:nvSpPr>
          <p:cNvPr id="6" name="Text 4"/>
          <p:cNvSpPr/>
          <p:nvPr/>
        </p:nvSpPr>
        <p:spPr>
          <a:xfrm>
            <a:off x="365760" y="868680"/>
            <a:ext cx="8412480"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Yes — top earners cluster closely on every key metric, suggesting success is driven</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by a balanced, well-rounded skill set rather than dominance in a single area.</a:t>
            </a:r>
            <a:endParaRPr lang="en-US" sz="1250" dirty="0"/>
          </a:p>
        </p:txBody>
      </p:sp>
      <p:sp>
        <p:nvSpPr>
          <p:cNvPr id="7" name="Shape 5"/>
          <p:cNvSpPr/>
          <p:nvPr/>
        </p:nvSpPr>
        <p:spPr>
          <a:xfrm>
            <a:off x="365760" y="1664208"/>
            <a:ext cx="2697480" cy="129844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8" name="Shape 6"/>
          <p:cNvSpPr/>
          <p:nvPr/>
        </p:nvSpPr>
        <p:spPr>
          <a:xfrm>
            <a:off x="365760" y="1664208"/>
            <a:ext cx="91440" cy="1298448"/>
          </a:xfrm>
          <a:prstGeom prst="rect">
            <a:avLst/>
          </a:prstGeom>
          <a:solidFill>
            <a:srgbClr val="1A7A4A"/>
          </a:solidFill>
          <a:ln w="12700">
            <a:solidFill>
              <a:srgbClr val="1A7A4A"/>
            </a:solidFill>
            <a:prstDash val="solid"/>
          </a:ln>
        </p:spPr>
        <p:txBody>
          <a:bodyPr/>
          <a:lstStyle/>
          <a:p>
            <a:endParaRPr lang="en-US"/>
          </a:p>
        </p:txBody>
      </p:sp>
      <p:sp>
        <p:nvSpPr>
          <p:cNvPr id="9" name="Text 7"/>
          <p:cNvSpPr/>
          <p:nvPr/>
        </p:nvSpPr>
        <p:spPr>
          <a:xfrm>
            <a:off x="530352" y="1719072"/>
            <a:ext cx="24780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Similar Putting Volume</a:t>
            </a:r>
            <a:endParaRPr lang="en-US" sz="1200" dirty="0"/>
          </a:p>
        </p:txBody>
      </p:sp>
      <p:sp>
        <p:nvSpPr>
          <p:cNvPr id="10" name="Text 8"/>
          <p:cNvSpPr/>
          <p:nvPr/>
        </p:nvSpPr>
        <p:spPr>
          <a:xfrm>
            <a:off x="530352" y="2029968"/>
            <a:ext cx="2478024" cy="8412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Justin Thomas, Scottie Scheffler, and Will Zalatoris all average ~28–28.5 putts per round — virtually identical. Elite putting is a shared baseline, not a differentiator.</a:t>
            </a:r>
            <a:endParaRPr lang="en-US" sz="1000" dirty="0"/>
          </a:p>
        </p:txBody>
      </p:sp>
      <p:sp>
        <p:nvSpPr>
          <p:cNvPr id="11" name="Shape 9"/>
          <p:cNvSpPr/>
          <p:nvPr/>
        </p:nvSpPr>
        <p:spPr>
          <a:xfrm>
            <a:off x="3227832" y="1664208"/>
            <a:ext cx="2697480" cy="129844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2" name="Shape 10"/>
          <p:cNvSpPr/>
          <p:nvPr/>
        </p:nvSpPr>
        <p:spPr>
          <a:xfrm>
            <a:off x="3227832" y="1664208"/>
            <a:ext cx="91440" cy="1298448"/>
          </a:xfrm>
          <a:prstGeom prst="rect">
            <a:avLst/>
          </a:prstGeom>
          <a:solidFill>
            <a:srgbClr val="1565C0"/>
          </a:solidFill>
          <a:ln w="12700">
            <a:solidFill>
              <a:srgbClr val="1565C0"/>
            </a:solidFill>
            <a:prstDash val="solid"/>
          </a:ln>
        </p:spPr>
        <p:txBody>
          <a:bodyPr/>
          <a:lstStyle/>
          <a:p>
            <a:endParaRPr lang="en-US"/>
          </a:p>
        </p:txBody>
      </p:sp>
      <p:sp>
        <p:nvSpPr>
          <p:cNvPr id="13" name="Text 11"/>
          <p:cNvSpPr/>
          <p:nvPr/>
        </p:nvSpPr>
        <p:spPr>
          <a:xfrm>
            <a:off x="3392424" y="1719072"/>
            <a:ext cx="24780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Shared Drive Distance</a:t>
            </a:r>
            <a:endParaRPr lang="en-US" sz="1200" dirty="0"/>
          </a:p>
        </p:txBody>
      </p:sp>
      <p:sp>
        <p:nvSpPr>
          <p:cNvPr id="14" name="Text 12"/>
          <p:cNvSpPr/>
          <p:nvPr/>
        </p:nvSpPr>
        <p:spPr>
          <a:xfrm>
            <a:off x="3392424" y="2029968"/>
            <a:ext cx="2478024" cy="8412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All three cluster near 310 yards off the tee. No top earner significantly out-drives the others, suggesting distance alone is not the winning factor.</a:t>
            </a:r>
            <a:endParaRPr lang="en-US" sz="1000" dirty="0"/>
          </a:p>
        </p:txBody>
      </p:sp>
      <p:sp>
        <p:nvSpPr>
          <p:cNvPr id="15" name="Shape 13"/>
          <p:cNvSpPr/>
          <p:nvPr/>
        </p:nvSpPr>
        <p:spPr>
          <a:xfrm>
            <a:off x="6080760" y="1664208"/>
            <a:ext cx="2697480" cy="129844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16" name="Shape 14"/>
          <p:cNvSpPr/>
          <p:nvPr/>
        </p:nvSpPr>
        <p:spPr>
          <a:xfrm>
            <a:off x="6080760" y="1664208"/>
            <a:ext cx="91440" cy="1298448"/>
          </a:xfrm>
          <a:prstGeom prst="rect">
            <a:avLst/>
          </a:prstGeom>
          <a:solidFill>
            <a:srgbClr val="E67E22"/>
          </a:solidFill>
          <a:ln w="12700">
            <a:solidFill>
              <a:srgbClr val="E67E22"/>
            </a:solidFill>
            <a:prstDash val="solid"/>
          </a:ln>
        </p:spPr>
        <p:txBody>
          <a:bodyPr/>
          <a:lstStyle/>
          <a:p>
            <a:endParaRPr lang="en-US"/>
          </a:p>
        </p:txBody>
      </p:sp>
      <p:sp>
        <p:nvSpPr>
          <p:cNvPr id="17" name="Text 15"/>
          <p:cNvSpPr/>
          <p:nvPr/>
        </p:nvSpPr>
        <p:spPr>
          <a:xfrm>
            <a:off x="6245352" y="1719072"/>
            <a:ext cx="2478024"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Comparable One-Putt %</a:t>
            </a:r>
            <a:endParaRPr lang="en-US" sz="1200" dirty="0"/>
          </a:p>
        </p:txBody>
      </p:sp>
      <p:sp>
        <p:nvSpPr>
          <p:cNvPr id="18" name="Text 16"/>
          <p:cNvSpPr/>
          <p:nvPr/>
        </p:nvSpPr>
        <p:spPr>
          <a:xfrm>
            <a:off x="6245352" y="2029968"/>
            <a:ext cx="2478024" cy="8412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One-putt percentage is grouped around 40% for all three. Despite differing styles, their converting ability is similarly strong.</a:t>
            </a:r>
            <a:endParaRPr lang="en-US" sz="1000" dirty="0"/>
          </a:p>
        </p:txBody>
      </p:sp>
      <p:sp>
        <p:nvSpPr>
          <p:cNvPr id="19" name="Shape 17"/>
          <p:cNvSpPr/>
          <p:nvPr/>
        </p:nvSpPr>
        <p:spPr>
          <a:xfrm>
            <a:off x="365760" y="3090672"/>
            <a:ext cx="8412480" cy="1572768"/>
          </a:xfrm>
          <a:prstGeom prst="rect">
            <a:avLst/>
          </a:prstGeom>
          <a:solidFill>
            <a:srgbClr val="FFFFFF"/>
          </a:solidFill>
          <a:ln w="12700">
            <a:solidFill>
              <a:srgbClr val="E2E8F0"/>
            </a:solidFill>
            <a:prstDash val="solid"/>
          </a:ln>
          <a:effectLst>
            <a:outerShdw blurRad="50800" dist="25400" dir="8100000" algn="bl" rotWithShape="0">
              <a:srgbClr val="000000">
                <a:alpha val="9000"/>
              </a:srgbClr>
            </a:outerShdw>
          </a:effectLst>
        </p:spPr>
        <p:txBody>
          <a:bodyPr/>
          <a:lstStyle/>
          <a:p>
            <a:endParaRPr lang="en-US"/>
          </a:p>
        </p:txBody>
      </p:sp>
      <p:sp>
        <p:nvSpPr>
          <p:cNvPr id="20" name="Shape 18"/>
          <p:cNvSpPr/>
          <p:nvPr/>
        </p:nvSpPr>
        <p:spPr>
          <a:xfrm>
            <a:off x="365760" y="3090672"/>
            <a:ext cx="109728" cy="1572768"/>
          </a:xfrm>
          <a:prstGeom prst="rect">
            <a:avLst/>
          </a:prstGeom>
          <a:solidFill>
            <a:srgbClr val="C0392B"/>
          </a:solidFill>
          <a:ln w="12700">
            <a:solidFill>
              <a:srgbClr val="C0392B"/>
            </a:solidFill>
            <a:prstDash val="solid"/>
          </a:ln>
        </p:spPr>
        <p:txBody>
          <a:bodyPr/>
          <a:lstStyle/>
          <a:p>
            <a:endParaRPr lang="en-US"/>
          </a:p>
        </p:txBody>
      </p:sp>
      <p:sp>
        <p:nvSpPr>
          <p:cNvPr id="21" name="Text 19"/>
          <p:cNvSpPr/>
          <p:nvPr/>
        </p:nvSpPr>
        <p:spPr>
          <a:xfrm>
            <a:off x="566928" y="3145536"/>
            <a:ext cx="8046720" cy="347472"/>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Balanced Skills Drive Elite Success</a:t>
            </a:r>
            <a:endParaRPr lang="en-US" sz="1400" dirty="0"/>
          </a:p>
        </p:txBody>
      </p:sp>
      <p:sp>
        <p:nvSpPr>
          <p:cNvPr id="22" name="Text 20"/>
          <p:cNvSpPr/>
          <p:nvPr/>
        </p:nvSpPr>
        <p:spPr>
          <a:xfrm>
            <a:off x="566928" y="3511296"/>
            <a:ext cx="80467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tight clustering across putts per round, driving distance, and one-putt percentage indicates that the highest-earning PGA Tour players share a common performance profile. Rather than dominating in one area (e.g., being exceptional off the tee but average on the green), these players maintain strong, consistent performance across all key metrics. This supports the conclusion that elite scoring is the result of a balanced, multi-dimensional skill set.</a:t>
            </a:r>
            <a:endParaRPr lang="en-US" sz="1100" dirty="0"/>
          </a:p>
        </p:txBody>
      </p:sp>
      <p:sp>
        <p:nvSpPr>
          <p:cNvPr id="23" name="Text 21"/>
          <p:cNvSpPr/>
          <p:nvPr/>
        </p:nvSpPr>
        <p:spPr>
          <a:xfrm>
            <a:off x="320040" y="4846320"/>
            <a:ext cx="850392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11480" y="411480"/>
            <a:ext cx="8229600" cy="292608"/>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CONCLUSIONS &amp; TAKEAWAYS</a:t>
            </a:r>
            <a:endParaRPr lang="en-US" sz="1000" dirty="0"/>
          </a:p>
        </p:txBody>
      </p:sp>
      <p:sp>
        <p:nvSpPr>
          <p:cNvPr id="4" name="Text 2"/>
          <p:cNvSpPr/>
          <p:nvPr/>
        </p:nvSpPr>
        <p:spPr>
          <a:xfrm>
            <a:off x="411480" y="713232"/>
            <a:ext cx="8229600" cy="566928"/>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Key Insights from the Analysis</a:t>
            </a:r>
            <a:endParaRPr lang="en-US" sz="3000" dirty="0"/>
          </a:p>
        </p:txBody>
      </p:sp>
      <p:sp>
        <p:nvSpPr>
          <p:cNvPr id="5" name="Shape 3"/>
          <p:cNvSpPr/>
          <p:nvPr/>
        </p:nvSpPr>
        <p:spPr>
          <a:xfrm>
            <a:off x="411480" y="1417320"/>
            <a:ext cx="8321040" cy="960120"/>
          </a:xfrm>
          <a:prstGeom prst="rect">
            <a:avLst/>
          </a:prstGeom>
          <a:solidFill>
            <a:srgbClr val="1B2E45"/>
          </a:solidFill>
          <a:ln w="12700">
            <a:solidFill>
              <a:srgbClr val="1B2E45"/>
            </a:solidFill>
            <a:prstDash val="solid"/>
          </a:ln>
        </p:spPr>
        <p:txBody>
          <a:bodyPr/>
          <a:lstStyle/>
          <a:p>
            <a:endParaRPr lang="en-US"/>
          </a:p>
        </p:txBody>
      </p:sp>
      <p:sp>
        <p:nvSpPr>
          <p:cNvPr id="6" name="Shape 4"/>
          <p:cNvSpPr/>
          <p:nvPr/>
        </p:nvSpPr>
        <p:spPr>
          <a:xfrm>
            <a:off x="411480" y="1417320"/>
            <a:ext cx="713232" cy="960120"/>
          </a:xfrm>
          <a:prstGeom prst="rect">
            <a:avLst/>
          </a:prstGeom>
          <a:solidFill>
            <a:srgbClr val="C9A84C"/>
          </a:solidFill>
          <a:ln w="12700">
            <a:solidFill>
              <a:srgbClr val="C9A84C"/>
            </a:solidFill>
            <a:prstDash val="solid"/>
          </a:ln>
        </p:spPr>
        <p:txBody>
          <a:bodyPr/>
          <a:lstStyle/>
          <a:p>
            <a:endParaRPr lang="en-US"/>
          </a:p>
        </p:txBody>
      </p:sp>
      <p:sp>
        <p:nvSpPr>
          <p:cNvPr id="7" name="Text 5"/>
          <p:cNvSpPr/>
          <p:nvPr/>
        </p:nvSpPr>
        <p:spPr>
          <a:xfrm>
            <a:off x="411480" y="1417320"/>
            <a:ext cx="713232" cy="9601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Q1</a:t>
            </a:r>
            <a:endParaRPr lang="en-US" sz="2200" dirty="0"/>
          </a:p>
        </p:txBody>
      </p:sp>
      <p:sp>
        <p:nvSpPr>
          <p:cNvPr id="8" name="Text 6"/>
          <p:cNvSpPr/>
          <p:nvPr/>
        </p:nvSpPr>
        <p:spPr>
          <a:xfrm>
            <a:off x="1207008" y="1490472"/>
            <a:ext cx="731520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Putting &gt; Driving for Scoring</a:t>
            </a:r>
            <a:endParaRPr lang="en-US" sz="1400" dirty="0"/>
          </a:p>
        </p:txBody>
      </p:sp>
      <p:sp>
        <p:nvSpPr>
          <p:cNvPr id="9" name="Text 7"/>
          <p:cNvSpPr/>
          <p:nvPr/>
        </p:nvSpPr>
        <p:spPr>
          <a:xfrm>
            <a:off x="1207008" y="1856232"/>
            <a:ext cx="7315200" cy="438912"/>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Putting has a stronger, more consistent statistical relationship with scoring. Driving distance is a weaker, less differentiating predictor across all regression models.</a:t>
            </a:r>
            <a:endParaRPr lang="en-US" sz="1050" dirty="0"/>
          </a:p>
        </p:txBody>
      </p:sp>
      <p:sp>
        <p:nvSpPr>
          <p:cNvPr id="10" name="Shape 8"/>
          <p:cNvSpPr/>
          <p:nvPr/>
        </p:nvSpPr>
        <p:spPr>
          <a:xfrm>
            <a:off x="411480" y="2496312"/>
            <a:ext cx="8321040" cy="960120"/>
          </a:xfrm>
          <a:prstGeom prst="rect">
            <a:avLst/>
          </a:prstGeom>
          <a:solidFill>
            <a:srgbClr val="1B2E45"/>
          </a:solidFill>
          <a:ln w="12700">
            <a:solidFill>
              <a:srgbClr val="1B2E45"/>
            </a:solidFill>
            <a:prstDash val="solid"/>
          </a:ln>
        </p:spPr>
        <p:txBody>
          <a:bodyPr/>
          <a:lstStyle/>
          <a:p>
            <a:endParaRPr lang="en-US"/>
          </a:p>
        </p:txBody>
      </p:sp>
      <p:sp>
        <p:nvSpPr>
          <p:cNvPr id="11" name="Shape 9"/>
          <p:cNvSpPr/>
          <p:nvPr/>
        </p:nvSpPr>
        <p:spPr>
          <a:xfrm>
            <a:off x="411480" y="2496312"/>
            <a:ext cx="713232" cy="960120"/>
          </a:xfrm>
          <a:prstGeom prst="rect">
            <a:avLst/>
          </a:prstGeom>
          <a:solidFill>
            <a:srgbClr val="1A7A4A"/>
          </a:solidFill>
          <a:ln w="12700">
            <a:solidFill>
              <a:srgbClr val="1A7A4A"/>
            </a:solidFill>
            <a:prstDash val="solid"/>
          </a:ln>
        </p:spPr>
        <p:txBody>
          <a:bodyPr/>
          <a:lstStyle/>
          <a:p>
            <a:endParaRPr lang="en-US"/>
          </a:p>
        </p:txBody>
      </p:sp>
      <p:sp>
        <p:nvSpPr>
          <p:cNvPr id="12" name="Text 10"/>
          <p:cNvSpPr/>
          <p:nvPr/>
        </p:nvSpPr>
        <p:spPr>
          <a:xfrm>
            <a:off x="411480" y="2496312"/>
            <a:ext cx="713232" cy="9601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Q2</a:t>
            </a:r>
            <a:endParaRPr lang="en-US" sz="2200" dirty="0"/>
          </a:p>
        </p:txBody>
      </p:sp>
      <p:sp>
        <p:nvSpPr>
          <p:cNvPr id="13" name="Text 11"/>
          <p:cNvSpPr/>
          <p:nvPr/>
        </p:nvSpPr>
        <p:spPr>
          <a:xfrm>
            <a:off x="1207008" y="2569464"/>
            <a:ext cx="731520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Putting &amp; Driving Both Significant</a:t>
            </a:r>
            <a:endParaRPr lang="en-US" sz="1400" dirty="0"/>
          </a:p>
        </p:txBody>
      </p:sp>
      <p:sp>
        <p:nvSpPr>
          <p:cNvPr id="14" name="Text 12"/>
          <p:cNvSpPr/>
          <p:nvPr/>
        </p:nvSpPr>
        <p:spPr>
          <a:xfrm>
            <a:off x="1207008" y="2935224"/>
            <a:ext cx="7315200" cy="438912"/>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Model A: Putting (0.205) has the largest coefficient; drive accuracy (−0.045) and distance (−0.030) follow. One-putt % is not significant. Model R² = 0.119.</a:t>
            </a:r>
            <a:endParaRPr lang="en-US" sz="1050" dirty="0"/>
          </a:p>
        </p:txBody>
      </p:sp>
      <p:sp>
        <p:nvSpPr>
          <p:cNvPr id="15" name="Shape 13"/>
          <p:cNvSpPr/>
          <p:nvPr/>
        </p:nvSpPr>
        <p:spPr>
          <a:xfrm>
            <a:off x="411480" y="3575304"/>
            <a:ext cx="8321040" cy="960120"/>
          </a:xfrm>
          <a:prstGeom prst="rect">
            <a:avLst/>
          </a:prstGeom>
          <a:solidFill>
            <a:srgbClr val="1B2E45"/>
          </a:solidFill>
          <a:ln w="12700">
            <a:solidFill>
              <a:srgbClr val="1B2E45"/>
            </a:solidFill>
            <a:prstDash val="solid"/>
          </a:ln>
        </p:spPr>
        <p:txBody>
          <a:bodyPr/>
          <a:lstStyle/>
          <a:p>
            <a:endParaRPr lang="en-US"/>
          </a:p>
        </p:txBody>
      </p:sp>
      <p:sp>
        <p:nvSpPr>
          <p:cNvPr id="16" name="Shape 14"/>
          <p:cNvSpPr/>
          <p:nvPr/>
        </p:nvSpPr>
        <p:spPr>
          <a:xfrm>
            <a:off x="411480" y="3575304"/>
            <a:ext cx="713232" cy="960120"/>
          </a:xfrm>
          <a:prstGeom prst="rect">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411480" y="3575304"/>
            <a:ext cx="713232" cy="9601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Q3</a:t>
            </a:r>
            <a:endParaRPr lang="en-US" sz="2200" dirty="0"/>
          </a:p>
        </p:txBody>
      </p:sp>
      <p:sp>
        <p:nvSpPr>
          <p:cNvPr id="18" name="Text 16"/>
          <p:cNvSpPr/>
          <p:nvPr/>
        </p:nvSpPr>
        <p:spPr>
          <a:xfrm>
            <a:off x="1207008" y="3648456"/>
            <a:ext cx="731520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Top Earners Share a Balanced Profile</a:t>
            </a:r>
            <a:endParaRPr lang="en-US" sz="1400" dirty="0"/>
          </a:p>
        </p:txBody>
      </p:sp>
      <p:sp>
        <p:nvSpPr>
          <p:cNvPr id="19" name="Text 17"/>
          <p:cNvSpPr/>
          <p:nvPr/>
        </p:nvSpPr>
        <p:spPr>
          <a:xfrm>
            <a:off x="1207008" y="4014216"/>
            <a:ext cx="7315200" cy="438912"/>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Justin Thomas, Scottie Scheffler, and Will Zalatoris cluster tightly on every metric. Elite success is driven by balanced, multi-dimensional performance — not dominance in one area.</a:t>
            </a:r>
            <a:endParaRPr lang="en-US" sz="1050" dirty="0"/>
          </a:p>
        </p:txBody>
      </p:sp>
      <p:sp>
        <p:nvSpPr>
          <p:cNvPr id="20" name="Text 18"/>
          <p:cNvSpPr/>
          <p:nvPr/>
        </p:nvSpPr>
        <p:spPr>
          <a:xfrm>
            <a:off x="411480" y="4828032"/>
            <a:ext cx="8321040" cy="201168"/>
          </a:xfrm>
          <a:prstGeom prst="rect">
            <a:avLst/>
          </a:prstGeom>
          <a:noFill/>
          <a:ln/>
        </p:spPr>
        <p:txBody>
          <a:bodyPr wrap="square" lIns="0" tIns="0" rIns="0" bIns="0" rtlCol="0" anchor="ctr"/>
          <a:lstStyle/>
          <a:p>
            <a:pPr marL="0" indent="0" algn="r">
              <a:buNone/>
            </a:pPr>
            <a:r>
              <a:rPr lang="en-US" sz="900" dirty="0">
                <a:solidFill>
                  <a:srgbClr val="64748B"/>
                </a:solidFill>
              </a:rPr>
              <a:t>Golf Performance Analytics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1225</Words>
  <Application>Microsoft Macintosh PowerPoint</Application>
  <PresentationFormat>On-screen Show (16:9)</PresentationFormat>
  <Paragraphs>150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Golf Performance Analytics</dc:title>
  <dc:subject>PptxGenJS Presentation</dc:subject>
  <dc:creator>PptxGenJS</dc:creator>
  <cp:lastModifiedBy>Finan, Sean</cp:lastModifiedBy>
  <cp:revision>1</cp:revision>
  <dcterms:created xsi:type="dcterms:W3CDTF">2026-04-23T21:07:50Z</dcterms:created>
  <dcterms:modified xsi:type="dcterms:W3CDTF">2026-04-23T21:10:19Z</dcterms:modified>
</cp:coreProperties>
</file>